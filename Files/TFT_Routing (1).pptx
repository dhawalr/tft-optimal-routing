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66" r:id="rId3"/>
    <p:sldId id="271" r:id="rId4"/>
    <p:sldId id="267" r:id="rId5"/>
    <p:sldId id="268" r:id="rId6"/>
    <p:sldId id="269" r:id="rId7"/>
    <p:sldId id="257" r:id="rId8"/>
    <p:sldId id="258" r:id="rId9"/>
    <p:sldId id="259" r:id="rId10"/>
    <p:sldId id="272" r:id="rId11"/>
    <p:sldId id="273" r:id="rId12"/>
    <p:sldId id="275" r:id="rId13"/>
    <p:sldId id="261" r:id="rId14"/>
    <p:sldId id="274" r:id="rId15"/>
    <p:sldId id="276" r:id="rId16"/>
    <p:sldId id="278" r:id="rId17"/>
    <p:sldId id="277" r:id="rId18"/>
    <p:sldId id="262" r:id="rId19"/>
    <p:sldId id="280" r:id="rId20"/>
    <p:sldId id="263" r:id="rId21"/>
    <p:sldId id="264" r:id="rId22"/>
    <p:sldId id="265" r:id="rId23"/>
    <p:sldId id="270" r:id="rId2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07B2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66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55148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10"/>
          <p:cNvSpPr/>
          <p:nvPr/>
        </p:nvSpPr>
        <p:spPr>
          <a:xfrm>
            <a:off x="164592" y="3520440"/>
            <a:ext cx="8796528" cy="155448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" name="Shape 0"/>
          <p:cNvSpPr/>
          <p:nvPr/>
        </p:nvSpPr>
        <p:spPr>
          <a:xfrm>
            <a:off x="0" y="-1"/>
            <a:ext cx="9144000" cy="2423153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8595360" cy="14877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dirty="0">
                <a:solidFill>
                  <a:srgbClr val="AABBDD"/>
                </a:solidFill>
              </a:rPr>
              <a:t>The 40th International Conference on Advanced Information Networking and Applications (AINA-2026)</a:t>
            </a:r>
          </a:p>
          <a:p>
            <a:pPr marL="0" indent="0">
              <a:buNone/>
            </a:pP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28600" y="1020055"/>
            <a:ext cx="8595360" cy="192372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000" b="1" dirty="0">
                <a:solidFill>
                  <a:srgbClr val="FFFFFF"/>
                </a:solidFill>
              </a:rPr>
              <a:t>Multi-Factor Optimal Routing using Temporal Fusion Transformer Framework</a:t>
            </a:r>
          </a:p>
          <a:p>
            <a:pPr marL="0" indent="0">
              <a:buNone/>
            </a:pP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274320" y="804672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12648" y="2880351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3A6B"/>
                </a:solidFill>
              </a:rPr>
              <a:t>Madhusudhan R  &amp;  Dhawal Ramdham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58368" y="3689096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444444"/>
                </a:solidFill>
              </a:rPr>
              <a:t>Department of Mathematical and Computational Sciences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58368" y="4054856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444444"/>
                </a:solidFill>
              </a:rPr>
              <a:t>National Institute of Technology Karnataka, Surathkal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20040" y="2788920"/>
            <a:ext cx="850392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0">
            <a:extLst>
              <a:ext uri="{FF2B5EF4-FFF2-40B4-BE49-F238E27FC236}">
                <a16:creationId xmlns:a16="http://schemas.microsoft.com/office/drawing/2014/main" id="{60F2B984-951A-BF5B-F1BF-E944351F872C}"/>
              </a:ext>
            </a:extLst>
          </p:cNvPr>
          <p:cNvSpPr/>
          <p:nvPr/>
        </p:nvSpPr>
        <p:spPr>
          <a:xfrm>
            <a:off x="0" y="0"/>
            <a:ext cx="9144000" cy="1023257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">
            <a:extLst>
              <a:ext uri="{FF2B5EF4-FFF2-40B4-BE49-F238E27FC236}">
                <a16:creationId xmlns:a16="http://schemas.microsoft.com/office/drawing/2014/main" id="{632C9DD8-E414-6B00-6EFB-5217D2425BE6}"/>
              </a:ext>
            </a:extLst>
          </p:cNvPr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9">
            <a:extLst>
              <a:ext uri="{FF2B5EF4-FFF2-40B4-BE49-F238E27FC236}">
                <a16:creationId xmlns:a16="http://schemas.microsoft.com/office/drawing/2014/main" id="{1F00AC53-4171-7837-7380-521B2CC0D91B}"/>
              </a:ext>
            </a:extLst>
          </p:cNvPr>
          <p:cNvSpPr/>
          <p:nvPr/>
        </p:nvSpPr>
        <p:spPr>
          <a:xfrm>
            <a:off x="603068" y="4413721"/>
            <a:ext cx="772087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888888"/>
                </a:solidFill>
              </a:rPr>
              <a:t>Traffic Forecasting   ·   Emergency Routing   ·   Causal Inference   ·   Graph Neural Networks   ·   Multi-Objective Optimization</a:t>
            </a:r>
            <a:endParaRPr lang="en-US" sz="1500" dirty="0"/>
          </a:p>
        </p:txBody>
      </p:sp>
      <p:sp>
        <p:nvSpPr>
          <p:cNvPr id="19" name="Text 12">
            <a:extLst>
              <a:ext uri="{FF2B5EF4-FFF2-40B4-BE49-F238E27FC236}">
                <a16:creationId xmlns:a16="http://schemas.microsoft.com/office/drawing/2014/main" id="{4B50346D-319E-BA48-F375-EB2AECCE4762}"/>
              </a:ext>
            </a:extLst>
          </p:cNvPr>
          <p:cNvSpPr/>
          <p:nvPr/>
        </p:nvSpPr>
        <p:spPr>
          <a:xfrm>
            <a:off x="552267" y="937950"/>
            <a:ext cx="7937863" cy="356107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b="1" dirty="0">
              <a:solidFill>
                <a:srgbClr val="1A1A1A"/>
              </a:solidFill>
            </a:endParaRPr>
          </a:p>
          <a:p>
            <a:pPr marL="0" indent="0">
              <a:buNone/>
            </a:pPr>
            <a:r>
              <a:rPr lang="en-US" b="1" dirty="0"/>
              <a:t>Urban Traffic Crisis in Indian Metros</a:t>
            </a:r>
            <a:r>
              <a:rPr lang="en-US" dirty="0"/>
              <a:t> Rapid urbanization in Delhi, Mumbai, and Bengaluru has made chronic traffic congestion a daily reality. This severely impairs economic productivity and — most critically — delays emergency vehicle response, threatening lives. Indian urban traffic is uniquely volatile, driven by predictable shocks like Diwali and unpredictable ones like monsoon cloudbursts.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/>
              <a:t>Why Existing ITS Platforms Fall Short</a:t>
            </a:r>
            <a:r>
              <a:rPr lang="en-US" dirty="0"/>
              <a:t> Current systems treat weather &amp; festival data as noise, use correlational (not causal) delay models, and output a single deterministic fastest route. They fail most on the very days they are needed — monsoon events and festival congestion — and cannot satisfy the multi-objective demands of emergency response.</a:t>
            </a:r>
          </a:p>
          <a:p>
            <a:pPr marL="0" indent="0">
              <a:buNone/>
            </a:pPr>
            <a:endParaRPr lang="en-US" sz="1700" dirty="0"/>
          </a:p>
        </p:txBody>
      </p:sp>
      <p:sp>
        <p:nvSpPr>
          <p:cNvPr id="2" name="Text 3">
            <a:extLst>
              <a:ext uri="{FF2B5EF4-FFF2-40B4-BE49-F238E27FC236}">
                <a16:creationId xmlns:a16="http://schemas.microsoft.com/office/drawing/2014/main" id="{82805813-1C66-3D68-BD0E-77D9B16698F2}"/>
              </a:ext>
            </a:extLst>
          </p:cNvPr>
          <p:cNvSpPr/>
          <p:nvPr/>
        </p:nvSpPr>
        <p:spPr>
          <a:xfrm>
            <a:off x="223519" y="412823"/>
            <a:ext cx="8595360" cy="5768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000" b="1" dirty="0">
                <a:solidFill>
                  <a:srgbClr val="FFFFFF"/>
                </a:solidFill>
              </a:rPr>
              <a:t>Introduction</a:t>
            </a:r>
          </a:p>
          <a:p>
            <a:pPr marL="0" indent="0">
              <a:buNone/>
            </a:pPr>
            <a:endParaRPr lang="en-US" sz="3000" dirty="0"/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D5B1A4FC-1D39-BEF1-E3A6-E5A180C98B18}"/>
              </a:ext>
            </a:extLst>
          </p:cNvPr>
          <p:cNvSpPr/>
          <p:nvPr/>
        </p:nvSpPr>
        <p:spPr>
          <a:xfrm>
            <a:off x="7498080" y="0"/>
            <a:ext cx="1554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8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2/23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846311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806ED28-B0D1-C0D3-CC5D-FCF72CD127BF}"/>
              </a:ext>
            </a:extLst>
          </p:cNvPr>
          <p:cNvSpPr/>
          <p:nvPr/>
        </p:nvSpPr>
        <p:spPr>
          <a:xfrm>
            <a:off x="0" y="0"/>
            <a:ext cx="9144000" cy="616857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D1FEEFF7-26AE-5B70-D4C4-29486BECE5DC}"/>
              </a:ext>
            </a:extLst>
          </p:cNvPr>
          <p:cNvSpPr/>
          <p:nvPr/>
        </p:nvSpPr>
        <p:spPr>
          <a:xfrm>
            <a:off x="0" y="0"/>
            <a:ext cx="607568" cy="5143500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F61D2818-6CA0-CA7A-79C5-8A7E20B17302}"/>
              </a:ext>
            </a:extLst>
          </p:cNvPr>
          <p:cNvSpPr/>
          <p:nvPr/>
        </p:nvSpPr>
        <p:spPr>
          <a:xfrm>
            <a:off x="223519" y="412823"/>
            <a:ext cx="8595360" cy="2040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000" b="1" dirty="0">
                <a:solidFill>
                  <a:srgbClr val="FFFFFF"/>
                </a:solidFill>
              </a:rPr>
              <a:t>Presentation Outline </a:t>
            </a:r>
          </a:p>
          <a:p>
            <a:pPr marL="0" indent="0">
              <a:buNone/>
            </a:pPr>
            <a:endParaRPr lang="en-US" sz="3000" dirty="0"/>
          </a:p>
        </p:txBody>
      </p:sp>
      <p:sp>
        <p:nvSpPr>
          <p:cNvPr id="30" name="Shape 3">
            <a:extLst>
              <a:ext uri="{FF2B5EF4-FFF2-40B4-BE49-F238E27FC236}">
                <a16:creationId xmlns:a16="http://schemas.microsoft.com/office/drawing/2014/main" id="{CAE164E2-7480-993F-A399-93AB4A352C81}"/>
              </a:ext>
            </a:extLst>
          </p:cNvPr>
          <p:cNvSpPr/>
          <p:nvPr/>
        </p:nvSpPr>
        <p:spPr>
          <a:xfrm>
            <a:off x="772160" y="832104"/>
            <a:ext cx="7834811" cy="478246"/>
          </a:xfrm>
          <a:prstGeom prst="rect">
            <a:avLst/>
          </a:prstGeom>
          <a:solidFill>
            <a:srgbClr val="EEF2F8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4">
            <a:extLst>
              <a:ext uri="{FF2B5EF4-FFF2-40B4-BE49-F238E27FC236}">
                <a16:creationId xmlns:a16="http://schemas.microsoft.com/office/drawing/2014/main" id="{7FCF51C8-8A4E-5A23-5D48-66C546235E54}"/>
              </a:ext>
            </a:extLst>
          </p:cNvPr>
          <p:cNvSpPr/>
          <p:nvPr/>
        </p:nvSpPr>
        <p:spPr>
          <a:xfrm>
            <a:off x="772160" y="832104"/>
            <a:ext cx="574446" cy="47824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2" name="Text 5">
            <a:extLst>
              <a:ext uri="{FF2B5EF4-FFF2-40B4-BE49-F238E27FC236}">
                <a16:creationId xmlns:a16="http://schemas.microsoft.com/office/drawing/2014/main" id="{F150835A-47E9-4EC6-3409-F5DC42FCB91D}"/>
              </a:ext>
            </a:extLst>
          </p:cNvPr>
          <p:cNvSpPr/>
          <p:nvPr/>
        </p:nvSpPr>
        <p:spPr>
          <a:xfrm>
            <a:off x="164592" y="777240"/>
            <a:ext cx="658368" cy="4782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600" dirty="0"/>
          </a:p>
        </p:txBody>
      </p:sp>
      <p:sp>
        <p:nvSpPr>
          <p:cNvPr id="33" name="Text 6">
            <a:extLst>
              <a:ext uri="{FF2B5EF4-FFF2-40B4-BE49-F238E27FC236}">
                <a16:creationId xmlns:a16="http://schemas.microsoft.com/office/drawing/2014/main" id="{6C6F4F7D-9175-34EC-BD8C-14E9B9C33946}"/>
              </a:ext>
            </a:extLst>
          </p:cNvPr>
          <p:cNvSpPr/>
          <p:nvPr/>
        </p:nvSpPr>
        <p:spPr>
          <a:xfrm>
            <a:off x="1540256" y="886968"/>
            <a:ext cx="70210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3A6B"/>
                </a:solidFill>
              </a:rPr>
              <a:t>Literature Review</a:t>
            </a:r>
            <a:endParaRPr lang="en-US" sz="1900" dirty="0"/>
          </a:p>
        </p:txBody>
      </p:sp>
      <p:sp>
        <p:nvSpPr>
          <p:cNvPr id="38" name="Shape 3">
            <a:extLst>
              <a:ext uri="{FF2B5EF4-FFF2-40B4-BE49-F238E27FC236}">
                <a16:creationId xmlns:a16="http://schemas.microsoft.com/office/drawing/2014/main" id="{7B64858B-72DB-ADD5-D52C-5CEBED6352C0}"/>
              </a:ext>
            </a:extLst>
          </p:cNvPr>
          <p:cNvSpPr/>
          <p:nvPr/>
        </p:nvSpPr>
        <p:spPr>
          <a:xfrm>
            <a:off x="772160" y="1407396"/>
            <a:ext cx="7834811" cy="478246"/>
          </a:xfrm>
          <a:prstGeom prst="rect">
            <a:avLst/>
          </a:prstGeom>
          <a:solidFill>
            <a:srgbClr val="EEF2F8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Shape 4">
            <a:extLst>
              <a:ext uri="{FF2B5EF4-FFF2-40B4-BE49-F238E27FC236}">
                <a16:creationId xmlns:a16="http://schemas.microsoft.com/office/drawing/2014/main" id="{C7E0C677-7D01-EA8D-8392-A313CFEEB829}"/>
              </a:ext>
            </a:extLst>
          </p:cNvPr>
          <p:cNvSpPr/>
          <p:nvPr/>
        </p:nvSpPr>
        <p:spPr>
          <a:xfrm>
            <a:off x="772160" y="1407396"/>
            <a:ext cx="574446" cy="47824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40" name="Text 6">
            <a:extLst>
              <a:ext uri="{FF2B5EF4-FFF2-40B4-BE49-F238E27FC236}">
                <a16:creationId xmlns:a16="http://schemas.microsoft.com/office/drawing/2014/main" id="{B8D627C4-2ACA-8A0C-C04F-7CC0398C1CF9}"/>
              </a:ext>
            </a:extLst>
          </p:cNvPr>
          <p:cNvSpPr/>
          <p:nvPr/>
        </p:nvSpPr>
        <p:spPr>
          <a:xfrm>
            <a:off x="1540256" y="1462260"/>
            <a:ext cx="70210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3A6B"/>
                </a:solidFill>
              </a:rPr>
              <a:t>Research Gaps</a:t>
            </a:r>
            <a:endParaRPr lang="en-US" sz="1900" dirty="0"/>
          </a:p>
        </p:txBody>
      </p:sp>
      <p:sp>
        <p:nvSpPr>
          <p:cNvPr id="41" name="Shape 3">
            <a:extLst>
              <a:ext uri="{FF2B5EF4-FFF2-40B4-BE49-F238E27FC236}">
                <a16:creationId xmlns:a16="http://schemas.microsoft.com/office/drawing/2014/main" id="{B2A44FD8-DD47-4025-3CE9-FB9C2D93CD10}"/>
              </a:ext>
            </a:extLst>
          </p:cNvPr>
          <p:cNvSpPr/>
          <p:nvPr/>
        </p:nvSpPr>
        <p:spPr>
          <a:xfrm>
            <a:off x="772160" y="1995053"/>
            <a:ext cx="7834811" cy="478246"/>
          </a:xfrm>
          <a:prstGeom prst="rect">
            <a:avLst/>
          </a:prstGeom>
          <a:solidFill>
            <a:srgbClr val="EEF2F8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Shape 4">
            <a:extLst>
              <a:ext uri="{FF2B5EF4-FFF2-40B4-BE49-F238E27FC236}">
                <a16:creationId xmlns:a16="http://schemas.microsoft.com/office/drawing/2014/main" id="{51A5CD88-2D69-9253-B497-A34FD2740645}"/>
              </a:ext>
            </a:extLst>
          </p:cNvPr>
          <p:cNvSpPr/>
          <p:nvPr/>
        </p:nvSpPr>
        <p:spPr>
          <a:xfrm>
            <a:off x="772160" y="1995053"/>
            <a:ext cx="574446" cy="47824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6">
            <a:extLst>
              <a:ext uri="{FF2B5EF4-FFF2-40B4-BE49-F238E27FC236}">
                <a16:creationId xmlns:a16="http://schemas.microsoft.com/office/drawing/2014/main" id="{115DD8A0-7547-D4E6-5CEE-4097FC67EDC6}"/>
              </a:ext>
            </a:extLst>
          </p:cNvPr>
          <p:cNvSpPr/>
          <p:nvPr/>
        </p:nvSpPr>
        <p:spPr>
          <a:xfrm>
            <a:off x="1540256" y="2049917"/>
            <a:ext cx="70210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3A6B"/>
                </a:solidFill>
              </a:rPr>
              <a:t>Proposed Five-Stage Approach</a:t>
            </a:r>
          </a:p>
        </p:txBody>
      </p:sp>
      <p:sp>
        <p:nvSpPr>
          <p:cNvPr id="44" name="Shape 3">
            <a:extLst>
              <a:ext uri="{FF2B5EF4-FFF2-40B4-BE49-F238E27FC236}">
                <a16:creationId xmlns:a16="http://schemas.microsoft.com/office/drawing/2014/main" id="{EF1054E5-A0AB-50E9-3650-5F765FF735D3}"/>
              </a:ext>
            </a:extLst>
          </p:cNvPr>
          <p:cNvSpPr/>
          <p:nvPr/>
        </p:nvSpPr>
        <p:spPr>
          <a:xfrm>
            <a:off x="772160" y="2574643"/>
            <a:ext cx="7834811" cy="478246"/>
          </a:xfrm>
          <a:prstGeom prst="rect">
            <a:avLst/>
          </a:prstGeom>
          <a:solidFill>
            <a:srgbClr val="EEF2F8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Shape 4">
            <a:extLst>
              <a:ext uri="{FF2B5EF4-FFF2-40B4-BE49-F238E27FC236}">
                <a16:creationId xmlns:a16="http://schemas.microsoft.com/office/drawing/2014/main" id="{D0F91CDB-97DB-8D47-FF9D-ACC464EC675C}"/>
              </a:ext>
            </a:extLst>
          </p:cNvPr>
          <p:cNvSpPr/>
          <p:nvPr/>
        </p:nvSpPr>
        <p:spPr>
          <a:xfrm>
            <a:off x="772160" y="2574643"/>
            <a:ext cx="574446" cy="47824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6">
            <a:extLst>
              <a:ext uri="{FF2B5EF4-FFF2-40B4-BE49-F238E27FC236}">
                <a16:creationId xmlns:a16="http://schemas.microsoft.com/office/drawing/2014/main" id="{545289E4-63E6-8A19-C5F2-DBB5E6E81C84}"/>
              </a:ext>
            </a:extLst>
          </p:cNvPr>
          <p:cNvSpPr/>
          <p:nvPr/>
        </p:nvSpPr>
        <p:spPr>
          <a:xfrm>
            <a:off x="1540256" y="2629507"/>
            <a:ext cx="70210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3A6B"/>
                </a:solidFill>
              </a:rPr>
              <a:t>Evaluation Strategy And Metrics</a:t>
            </a:r>
          </a:p>
        </p:txBody>
      </p:sp>
      <p:sp>
        <p:nvSpPr>
          <p:cNvPr id="47" name="Shape 3">
            <a:extLst>
              <a:ext uri="{FF2B5EF4-FFF2-40B4-BE49-F238E27FC236}">
                <a16:creationId xmlns:a16="http://schemas.microsoft.com/office/drawing/2014/main" id="{DF71DAD1-81BD-0A89-2DF5-4F2ADA7AAA9F}"/>
              </a:ext>
            </a:extLst>
          </p:cNvPr>
          <p:cNvSpPr/>
          <p:nvPr/>
        </p:nvSpPr>
        <p:spPr>
          <a:xfrm>
            <a:off x="772160" y="3149935"/>
            <a:ext cx="7834811" cy="478246"/>
          </a:xfrm>
          <a:prstGeom prst="rect">
            <a:avLst/>
          </a:prstGeom>
          <a:solidFill>
            <a:srgbClr val="EEF2F8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Shape 4">
            <a:extLst>
              <a:ext uri="{FF2B5EF4-FFF2-40B4-BE49-F238E27FC236}">
                <a16:creationId xmlns:a16="http://schemas.microsoft.com/office/drawing/2014/main" id="{A3BC496A-3E47-0600-3792-573CF1A51BDE}"/>
              </a:ext>
            </a:extLst>
          </p:cNvPr>
          <p:cNvSpPr/>
          <p:nvPr/>
        </p:nvSpPr>
        <p:spPr>
          <a:xfrm>
            <a:off x="772160" y="3149935"/>
            <a:ext cx="574446" cy="47824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6">
            <a:extLst>
              <a:ext uri="{FF2B5EF4-FFF2-40B4-BE49-F238E27FC236}">
                <a16:creationId xmlns:a16="http://schemas.microsoft.com/office/drawing/2014/main" id="{62CC04DD-3FE0-381A-223F-83E9E4F81F5A}"/>
              </a:ext>
            </a:extLst>
          </p:cNvPr>
          <p:cNvSpPr/>
          <p:nvPr/>
        </p:nvSpPr>
        <p:spPr>
          <a:xfrm>
            <a:off x="1540256" y="3204799"/>
            <a:ext cx="70210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3A6B"/>
                </a:solidFill>
              </a:rPr>
              <a:t>Performance Improvements</a:t>
            </a:r>
            <a:endParaRPr lang="en-US" sz="1900" dirty="0"/>
          </a:p>
        </p:txBody>
      </p:sp>
      <p:sp>
        <p:nvSpPr>
          <p:cNvPr id="50" name="Shape 3">
            <a:extLst>
              <a:ext uri="{FF2B5EF4-FFF2-40B4-BE49-F238E27FC236}">
                <a16:creationId xmlns:a16="http://schemas.microsoft.com/office/drawing/2014/main" id="{18AD2D3D-CAF5-ED2E-8611-27B548AAFEBC}"/>
              </a:ext>
            </a:extLst>
          </p:cNvPr>
          <p:cNvSpPr/>
          <p:nvPr/>
        </p:nvSpPr>
        <p:spPr>
          <a:xfrm>
            <a:off x="772160" y="3696629"/>
            <a:ext cx="7834811" cy="478246"/>
          </a:xfrm>
          <a:prstGeom prst="rect">
            <a:avLst/>
          </a:prstGeom>
          <a:solidFill>
            <a:srgbClr val="EEF2F8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Shape 4">
            <a:extLst>
              <a:ext uri="{FF2B5EF4-FFF2-40B4-BE49-F238E27FC236}">
                <a16:creationId xmlns:a16="http://schemas.microsoft.com/office/drawing/2014/main" id="{D40C5836-C502-CF38-1E7C-E73E7AE8A98F}"/>
              </a:ext>
            </a:extLst>
          </p:cNvPr>
          <p:cNvSpPr/>
          <p:nvPr/>
        </p:nvSpPr>
        <p:spPr>
          <a:xfrm>
            <a:off x="772160" y="3696629"/>
            <a:ext cx="574446" cy="47824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6">
            <a:extLst>
              <a:ext uri="{FF2B5EF4-FFF2-40B4-BE49-F238E27FC236}">
                <a16:creationId xmlns:a16="http://schemas.microsoft.com/office/drawing/2014/main" id="{A27D9087-0D91-EC9F-9E8C-7CEDDB1001E0}"/>
              </a:ext>
            </a:extLst>
          </p:cNvPr>
          <p:cNvSpPr/>
          <p:nvPr/>
        </p:nvSpPr>
        <p:spPr>
          <a:xfrm>
            <a:off x="1540256" y="3751493"/>
            <a:ext cx="70210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3A6B"/>
                </a:solidFill>
              </a:rPr>
              <a:t>Conclusion &amp; Future Work</a:t>
            </a:r>
          </a:p>
        </p:txBody>
      </p:sp>
      <p:sp>
        <p:nvSpPr>
          <p:cNvPr id="53" name="Shape 3">
            <a:extLst>
              <a:ext uri="{FF2B5EF4-FFF2-40B4-BE49-F238E27FC236}">
                <a16:creationId xmlns:a16="http://schemas.microsoft.com/office/drawing/2014/main" id="{281480D1-55FD-72A8-7CBC-709BBED08759}"/>
              </a:ext>
            </a:extLst>
          </p:cNvPr>
          <p:cNvSpPr/>
          <p:nvPr/>
        </p:nvSpPr>
        <p:spPr>
          <a:xfrm>
            <a:off x="772160" y="4274878"/>
            <a:ext cx="7834811" cy="478246"/>
          </a:xfrm>
          <a:prstGeom prst="rect">
            <a:avLst/>
          </a:prstGeom>
          <a:solidFill>
            <a:srgbClr val="EEF2F8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54" name="Shape 4">
            <a:extLst>
              <a:ext uri="{FF2B5EF4-FFF2-40B4-BE49-F238E27FC236}">
                <a16:creationId xmlns:a16="http://schemas.microsoft.com/office/drawing/2014/main" id="{F7EFF623-AB12-91D0-5A58-97A790D734FC}"/>
              </a:ext>
            </a:extLst>
          </p:cNvPr>
          <p:cNvSpPr/>
          <p:nvPr/>
        </p:nvSpPr>
        <p:spPr>
          <a:xfrm>
            <a:off x="772160" y="4274878"/>
            <a:ext cx="574446" cy="47824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Text 6">
            <a:extLst>
              <a:ext uri="{FF2B5EF4-FFF2-40B4-BE49-F238E27FC236}">
                <a16:creationId xmlns:a16="http://schemas.microsoft.com/office/drawing/2014/main" id="{3079D725-BCBB-578D-21E1-88F4DF1F0251}"/>
              </a:ext>
            </a:extLst>
          </p:cNvPr>
          <p:cNvSpPr/>
          <p:nvPr/>
        </p:nvSpPr>
        <p:spPr>
          <a:xfrm>
            <a:off x="1540256" y="4329742"/>
            <a:ext cx="70210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3A6B"/>
                </a:solidFill>
              </a:rPr>
              <a:t>References</a:t>
            </a:r>
            <a:endParaRPr lang="en-US" sz="19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CEA209D-7478-4A42-666C-E2AA7770B9B4}"/>
              </a:ext>
            </a:extLst>
          </p:cNvPr>
          <p:cNvSpPr/>
          <p:nvPr/>
        </p:nvSpPr>
        <p:spPr>
          <a:xfrm>
            <a:off x="7498080" y="0"/>
            <a:ext cx="1554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8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 /23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8270517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FB69CF7-A9B8-E047-C98D-E827F3E7783B}"/>
              </a:ext>
            </a:extLst>
          </p:cNvPr>
          <p:cNvSpPr/>
          <p:nvPr/>
        </p:nvSpPr>
        <p:spPr>
          <a:xfrm>
            <a:off x="0" y="0"/>
            <a:ext cx="9144000" cy="666055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0123BC8C-2EC7-37FA-EF70-6201E63E6A95}"/>
              </a:ext>
            </a:extLst>
          </p:cNvPr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0CE7BBB5-9812-9988-1F24-EFDC246E2C0E}"/>
              </a:ext>
            </a:extLst>
          </p:cNvPr>
          <p:cNvSpPr/>
          <p:nvPr/>
        </p:nvSpPr>
        <p:spPr>
          <a:xfrm>
            <a:off x="82296" y="250796"/>
            <a:ext cx="8595360" cy="5112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000" b="1" dirty="0">
                <a:solidFill>
                  <a:srgbClr val="FFFFFF"/>
                </a:solidFill>
              </a:rPr>
              <a:t>Literature Review </a:t>
            </a:r>
          </a:p>
          <a:p>
            <a:pPr marL="0" indent="0">
              <a:buNone/>
            </a:pPr>
            <a:endParaRPr lang="en-US" sz="3000" dirty="0"/>
          </a:p>
        </p:txBody>
      </p:sp>
      <p:sp>
        <p:nvSpPr>
          <p:cNvPr id="5" name="Google Shape;107;p15">
            <a:extLst>
              <a:ext uri="{FF2B5EF4-FFF2-40B4-BE49-F238E27FC236}">
                <a16:creationId xmlns:a16="http://schemas.microsoft.com/office/drawing/2014/main" id="{ECA36DA0-F264-A632-080D-4984C1CD8AA2}"/>
              </a:ext>
            </a:extLst>
          </p:cNvPr>
          <p:cNvSpPr txBox="1"/>
          <p:nvPr/>
        </p:nvSpPr>
        <p:spPr>
          <a:xfrm>
            <a:off x="316412" y="362221"/>
            <a:ext cx="8595360" cy="44804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228600" algn="l" rtl="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ato"/>
              <a:buNone/>
            </a:pPr>
            <a:r>
              <a:rPr lang="en-US" sz="1700" b="1" dirty="0">
                <a:sym typeface="Lato"/>
              </a:rPr>
              <a:t>Lim et al. [1]: </a:t>
            </a:r>
            <a:r>
              <a:rPr lang="en-US" sz="1700" dirty="0">
                <a:sym typeface="Lato"/>
              </a:rPr>
              <a:t>Proposed the Temporal Fusion Transformer (TFT). We adopt its architecture for its proven ability to fuse diverse data (static and dynamic) for multi-horizon forecasting.</a:t>
            </a:r>
            <a:endParaRPr sz="1700" dirty="0">
              <a:sym typeface="Lato"/>
            </a:endParaRPr>
          </a:p>
          <a:p>
            <a: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ato"/>
              <a:buNone/>
            </a:pPr>
            <a:r>
              <a:rPr lang="en-US" sz="1700" b="1" dirty="0">
                <a:sym typeface="Lato"/>
              </a:rPr>
              <a:t>Yu et al. [2]: </a:t>
            </a:r>
            <a:r>
              <a:rPr lang="en-US" sz="1700" dirty="0">
                <a:sym typeface="Lato"/>
              </a:rPr>
              <a:t>Introduced the Spatio-Temporal GNN (STGCN). We build on this concept to model the road network's spatial structure as a graph.</a:t>
            </a:r>
            <a:endParaRPr sz="1700" dirty="0">
              <a:sym typeface="Lato"/>
            </a:endParaRPr>
          </a:p>
          <a:p>
            <a: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ato"/>
              <a:buNone/>
            </a:pPr>
            <a:r>
              <a:rPr lang="en-US" sz="1700" b="1" dirty="0">
                <a:sym typeface="Lato"/>
              </a:rPr>
              <a:t>Graham [3]: </a:t>
            </a:r>
            <a:r>
              <a:rPr lang="en-US" sz="1700" dirty="0">
                <a:sym typeface="Lato"/>
              </a:rPr>
              <a:t>Provides the foundational principles for moving beyond simple correlation to find the true causal impact of traffic interventions, which forms the basis of our inference stage.</a:t>
            </a:r>
            <a:endParaRPr sz="1700" dirty="0">
              <a:sym typeface="Lato"/>
            </a:endParaRPr>
          </a:p>
          <a:p>
            <a: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ato"/>
              <a:buNone/>
            </a:pPr>
            <a:r>
              <a:rPr lang="en-US" sz="1700" b="1" dirty="0">
                <a:sym typeface="Lato"/>
              </a:rPr>
              <a:t>Singh &amp; Kumar [4]: </a:t>
            </a:r>
            <a:r>
              <a:rPr lang="en-US" sz="1700" dirty="0">
                <a:sym typeface="Lato"/>
              </a:rPr>
              <a:t>Demonstrates a practical deep learning application for quantifying "hidden" urban infrastructure (minor road width) to assess emergency vehicle accessibility.</a:t>
            </a:r>
            <a:endParaRPr sz="1700" dirty="0">
              <a:sym typeface="Lato"/>
            </a:endParaRPr>
          </a:p>
          <a:p>
            <a: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ato"/>
              <a:buNone/>
            </a:pPr>
            <a:r>
              <a:rPr lang="en-US" sz="1700" b="1" dirty="0">
                <a:sym typeface="Lato"/>
              </a:rPr>
              <a:t>Huang et al. [5]: </a:t>
            </a:r>
            <a:r>
              <a:rPr lang="en-US" sz="1700" dirty="0">
                <a:sym typeface="Lato"/>
              </a:rPr>
              <a:t>Provides a successful case 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sym typeface="Lato"/>
              </a:rPr>
              <a:t>study of TFT for environmental risk prediction, confirming its ability to effectively fuse static (terrain) and dynamic </a:t>
            </a:r>
            <a:r>
              <a:rPr lang="en-US" sz="1700" dirty="0">
                <a:sym typeface="Lato"/>
              </a:rPr>
              <a:t>(rainfall) data.</a:t>
            </a:r>
            <a:endParaRPr sz="1700" dirty="0">
              <a:sym typeface="Lato"/>
            </a:endParaRPr>
          </a:p>
          <a:p>
            <a: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ato"/>
              <a:buNone/>
            </a:pPr>
            <a:r>
              <a:rPr lang="en-US" sz="1700" b="1" dirty="0">
                <a:sym typeface="Lato"/>
              </a:rPr>
              <a:t>Wu et al. [6]: </a:t>
            </a:r>
            <a:r>
              <a:rPr lang="en-US" sz="1700" dirty="0">
                <a:sym typeface="Lato"/>
              </a:rPr>
              <a:t>Emphasizes the need for model reliability, using Bayesian regularization to quantify uncertainty in smart city (traffic) predictions.</a:t>
            </a:r>
            <a:endParaRPr sz="1700" dirty="0">
              <a:sym typeface="Lato"/>
            </a:endParaRPr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E225F374-5454-7780-4F79-8A7B49C2188D}"/>
              </a:ext>
            </a:extLst>
          </p:cNvPr>
          <p:cNvSpPr/>
          <p:nvPr/>
        </p:nvSpPr>
        <p:spPr>
          <a:xfrm>
            <a:off x="7498080" y="0"/>
            <a:ext cx="1554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8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 /23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725067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EAD28A4-7BB9-6902-24F9-1958A784F9F2}"/>
              </a:ext>
            </a:extLst>
          </p:cNvPr>
          <p:cNvSpPr/>
          <p:nvPr/>
        </p:nvSpPr>
        <p:spPr>
          <a:xfrm>
            <a:off x="0" y="0"/>
            <a:ext cx="9144000" cy="181429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CF435AF-5F99-8292-A76E-6120AB30DB75}"/>
              </a:ext>
            </a:extLst>
          </p:cNvPr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graphicFrame>
        <p:nvGraphicFramePr>
          <p:cNvPr id="4" name="Google Shape;113;p16">
            <a:extLst>
              <a:ext uri="{FF2B5EF4-FFF2-40B4-BE49-F238E27FC236}">
                <a16:creationId xmlns:a16="http://schemas.microsoft.com/office/drawing/2014/main" id="{02E1A70D-E646-8902-8687-E8155CF12F4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33554735"/>
              </p:ext>
            </p:extLst>
          </p:nvPr>
        </p:nvGraphicFramePr>
        <p:xfrm>
          <a:off x="337099" y="399859"/>
          <a:ext cx="8639987" cy="4535424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0780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47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6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2133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kern="1200" dirty="0">
                          <a:solidFill>
                            <a:srgbClr val="1B3A6B"/>
                          </a:solidFill>
                          <a:latin typeface="+mn-lt"/>
                          <a:ea typeface="+mn-ea"/>
                          <a:cs typeface="+mn-cs"/>
                        </a:rPr>
                        <a:t>Paper</a:t>
                      </a:r>
                      <a:endParaRPr sz="2000" b="1" kern="1200" dirty="0">
                        <a:solidFill>
                          <a:srgbClr val="1B3A6B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14300" marR="114300" marT="76200" marB="76200">
                    <a:lnL w="9525" cap="flat" cmpd="sng">
                      <a:solidFill>
                        <a:srgbClr val="1B1C1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B1C1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B1C1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B1C1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kern="1200" dirty="0">
                          <a:solidFill>
                            <a:srgbClr val="1B3A6B"/>
                          </a:solidFill>
                          <a:latin typeface="+mn-lt"/>
                          <a:ea typeface="+mn-ea"/>
                          <a:cs typeface="+mn-cs"/>
                        </a:rPr>
                        <a:t>Key Problem Addressed</a:t>
                      </a:r>
                      <a:endParaRPr sz="2000" b="1" kern="1200" dirty="0">
                        <a:solidFill>
                          <a:srgbClr val="1B3A6B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14300" marR="114300" marT="76200" marB="76200">
                    <a:lnL w="9525" cap="flat" cmpd="sng">
                      <a:solidFill>
                        <a:srgbClr val="1B1C1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B1C1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B1C1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B1C1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kern="1200" dirty="0">
                          <a:solidFill>
                            <a:srgbClr val="1B3A6B"/>
                          </a:solidFill>
                          <a:latin typeface="+mn-lt"/>
                          <a:ea typeface="+mn-ea"/>
                          <a:cs typeface="+mn-cs"/>
                        </a:rPr>
                        <a:t>Key Contribution</a:t>
                      </a:r>
                      <a:endParaRPr sz="2000" b="1" kern="1200" dirty="0">
                        <a:solidFill>
                          <a:srgbClr val="1B3A6B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14300" marR="114300" marT="76200" marB="76200">
                    <a:lnL w="9525" cap="flat" cmpd="sng">
                      <a:solidFill>
                        <a:srgbClr val="1B1C1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B1C1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B1C1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B1C1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70433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>
                          <a:solidFill>
                            <a:srgbClr val="1B1C1D"/>
                          </a:solidFill>
                        </a:rPr>
                        <a:t>Wu et al. (2024)</a:t>
                      </a:r>
                      <a:endParaRPr sz="1600" b="1">
                        <a:solidFill>
                          <a:srgbClr val="1B1C1D"/>
                        </a:solidFill>
                      </a:endParaRPr>
                    </a:p>
                  </a:txBody>
                  <a:tcPr marL="114300" marR="114300" marT="76200" marB="76200">
                    <a:lnL w="9525" cap="flat" cmpd="sng">
                      <a:solidFill>
                        <a:srgbClr val="1B1C1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B1C1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B1C1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B1C1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>
                          <a:solidFill>
                            <a:srgbClr val="1B1C1D"/>
                          </a:solidFill>
                        </a:rPr>
                        <a:t>Overfitting and limited interpretability of complex deep learning models in urban planning.</a:t>
                      </a:r>
                      <a:endParaRPr sz="1600" dirty="0">
                        <a:solidFill>
                          <a:srgbClr val="1B1C1D"/>
                        </a:solidFill>
                      </a:endParaRPr>
                    </a:p>
                  </a:txBody>
                  <a:tcPr marL="114300" marR="114300" marT="76200" marB="76200">
                    <a:lnL w="9525" cap="flat" cmpd="sng">
                      <a:solidFill>
                        <a:srgbClr val="1B1C1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B1C1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B1C1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B1C1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B1C1D"/>
                          </a:solidFill>
                        </a:rPr>
                        <a:t>Proposes combining deep learning with Bayesian regularization to improve model reliability and quantify predictive uncertainty for smart city applications.</a:t>
                      </a:r>
                      <a:endParaRPr sz="1600">
                        <a:solidFill>
                          <a:srgbClr val="1B1C1D"/>
                        </a:solidFill>
                      </a:endParaRPr>
                    </a:p>
                  </a:txBody>
                  <a:tcPr marL="114300" marR="114300" marT="76200" marB="76200">
                    <a:lnL w="9525" cap="flat" cmpd="sng">
                      <a:solidFill>
                        <a:srgbClr val="1B1C1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B1C1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B1C1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B1C1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75423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>
                          <a:solidFill>
                            <a:srgbClr val="1B1C1D"/>
                          </a:solidFill>
                        </a:rPr>
                        <a:t>Yu et al. (2018)</a:t>
                      </a:r>
                      <a:endParaRPr sz="1600" b="1">
                        <a:solidFill>
                          <a:srgbClr val="1B1C1D"/>
                        </a:solidFill>
                      </a:endParaRPr>
                    </a:p>
                  </a:txBody>
                  <a:tcPr marL="114300" marR="114300" marT="76200" marB="76200">
                    <a:lnL w="9525" cap="flat" cmpd="sng">
                      <a:solidFill>
                        <a:srgbClr val="1B1C1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B1C1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B1C1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B1C1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>
                          <a:solidFill>
                            <a:srgbClr val="1B1C1D"/>
                          </a:solidFill>
                        </a:rPr>
                        <a:t>Modeling the complex, nonlinear spatial and temporal dependencies of network-wide traffic flow.</a:t>
                      </a:r>
                      <a:endParaRPr sz="1600" dirty="0">
                        <a:solidFill>
                          <a:srgbClr val="1B1C1D"/>
                        </a:solidFill>
                      </a:endParaRPr>
                    </a:p>
                  </a:txBody>
                  <a:tcPr marL="114300" marR="114300" marT="76200" marB="76200">
                    <a:lnL w="9525" cap="flat" cmpd="sng">
                      <a:solidFill>
                        <a:srgbClr val="1B1C1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B1C1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B1C1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B1C1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B1C1D"/>
                          </a:solidFill>
                        </a:rPr>
                        <a:t>Introduces the Spatio-Temporal Graph Convolutional Network (STGCN), a novel deep learning framework that models traffic data as a graph to effectively capture spatio-temporal correlation.</a:t>
                      </a:r>
                      <a:endParaRPr sz="1600">
                        <a:solidFill>
                          <a:srgbClr val="1B1C1D"/>
                        </a:solidFill>
                      </a:endParaRPr>
                    </a:p>
                  </a:txBody>
                  <a:tcPr marL="114300" marR="114300" marT="76200" marB="76200">
                    <a:lnL w="9525" cap="flat" cmpd="sng">
                      <a:solidFill>
                        <a:srgbClr val="1B1C1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B1C1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B1C1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B1C1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75423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>
                          <a:solidFill>
                            <a:srgbClr val="1B1C1D"/>
                          </a:solidFill>
                        </a:rPr>
                        <a:t>Lim et al. (2020)</a:t>
                      </a:r>
                      <a:endParaRPr sz="1600" b="1">
                        <a:solidFill>
                          <a:srgbClr val="1B1C1D"/>
                        </a:solidFill>
                      </a:endParaRPr>
                    </a:p>
                  </a:txBody>
                  <a:tcPr marL="114300" marR="114300" marT="76200" marB="76200">
                    <a:lnL w="9525" cap="flat" cmpd="sng">
                      <a:solidFill>
                        <a:srgbClr val="1B1C1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B1C1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B1C1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B1C1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B1C1D"/>
                          </a:solidFill>
                        </a:rPr>
                        <a:t>"Black-box" forecasting models that struggle to interpretably integrate a complex mix of static, known future, and past-observed inputs.</a:t>
                      </a:r>
                      <a:endParaRPr sz="1600">
                        <a:solidFill>
                          <a:srgbClr val="1B1C1D"/>
                        </a:solidFill>
                      </a:endParaRPr>
                    </a:p>
                  </a:txBody>
                  <a:tcPr marL="114300" marR="114300" marT="76200" marB="76200">
                    <a:lnL w="9525" cap="flat" cmpd="sng">
                      <a:solidFill>
                        <a:srgbClr val="1B1C1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B1C1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B1C1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B1C1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>
                          <a:solidFill>
                            <a:srgbClr val="1B1C1D"/>
                          </a:solidFill>
                        </a:rPr>
                        <a:t>Proposes the Temporal Fusion Transformer (TFT), a novel attention-based architecture for high-performance, interpretable multi-horizon time series forecasting.</a:t>
                      </a:r>
                      <a:endParaRPr sz="1600" dirty="0">
                        <a:solidFill>
                          <a:srgbClr val="1B1C1D"/>
                        </a:solidFill>
                      </a:endParaRPr>
                    </a:p>
                  </a:txBody>
                  <a:tcPr marL="114300" marR="114300" marT="76200" marB="76200">
                    <a:lnL w="9525" cap="flat" cmpd="sng">
                      <a:solidFill>
                        <a:srgbClr val="1B1C1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B1C1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B1C1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B1C1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 3">
            <a:extLst>
              <a:ext uri="{FF2B5EF4-FFF2-40B4-BE49-F238E27FC236}">
                <a16:creationId xmlns:a16="http://schemas.microsoft.com/office/drawing/2014/main" id="{E9BCDC86-316A-872D-00B1-31F578C1016E}"/>
              </a:ext>
            </a:extLst>
          </p:cNvPr>
          <p:cNvSpPr/>
          <p:nvPr/>
        </p:nvSpPr>
        <p:spPr>
          <a:xfrm>
            <a:off x="7498080" y="0"/>
            <a:ext cx="1554480" cy="2082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8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 /23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7858653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6517CF3-BB10-3E8F-58A1-F38F4771E327}"/>
              </a:ext>
            </a:extLst>
          </p:cNvPr>
          <p:cNvSpPr/>
          <p:nvPr/>
        </p:nvSpPr>
        <p:spPr>
          <a:xfrm>
            <a:off x="0" y="0"/>
            <a:ext cx="9144000" cy="195943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D82DE66B-C8BF-19C1-DE4E-9A0A35CFF9A5}"/>
              </a:ext>
            </a:extLst>
          </p:cNvPr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graphicFrame>
        <p:nvGraphicFramePr>
          <p:cNvPr id="4" name="Google Shape;119;p17">
            <a:extLst>
              <a:ext uri="{FF2B5EF4-FFF2-40B4-BE49-F238E27FC236}">
                <a16:creationId xmlns:a16="http://schemas.microsoft.com/office/drawing/2014/main" id="{08D7B051-4FCD-F627-7A9A-8A07429F859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65204472"/>
              </p:ext>
            </p:extLst>
          </p:nvPr>
        </p:nvGraphicFramePr>
        <p:xfrm>
          <a:off x="219082" y="263690"/>
          <a:ext cx="8649147" cy="4816244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0364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24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878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27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kern="1200" dirty="0">
                          <a:solidFill>
                            <a:srgbClr val="1B3A6B"/>
                          </a:solidFill>
                          <a:latin typeface="+mn-lt"/>
                          <a:ea typeface="+mn-ea"/>
                          <a:cs typeface="+mn-cs"/>
                        </a:rPr>
                        <a:t>Paper</a:t>
                      </a:r>
                      <a:endParaRPr sz="2000" b="1" kern="1200" dirty="0">
                        <a:solidFill>
                          <a:srgbClr val="1B3A6B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14300" marR="114300" marT="76200" marB="76200">
                    <a:lnL w="9525" cap="flat" cmpd="sng">
                      <a:solidFill>
                        <a:srgbClr val="1B1C1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B1C1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B1C1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B1C1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kern="1200" dirty="0">
                          <a:solidFill>
                            <a:srgbClr val="1B3A6B"/>
                          </a:solidFill>
                          <a:latin typeface="+mn-lt"/>
                          <a:ea typeface="+mn-ea"/>
                          <a:cs typeface="+mn-cs"/>
                        </a:rPr>
                        <a:t>Key Problem Addressed</a:t>
                      </a:r>
                      <a:endParaRPr sz="2000" b="1" kern="1200" dirty="0">
                        <a:solidFill>
                          <a:srgbClr val="1B3A6B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14300" marR="114300" marT="76200" marB="76200">
                    <a:lnL w="9525" cap="flat" cmpd="sng">
                      <a:solidFill>
                        <a:srgbClr val="1B1C1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B1C1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B1C1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B1C1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kern="1200" dirty="0">
                          <a:solidFill>
                            <a:srgbClr val="1B3A6B"/>
                          </a:solidFill>
                          <a:latin typeface="+mn-lt"/>
                          <a:ea typeface="+mn-ea"/>
                          <a:cs typeface="+mn-cs"/>
                        </a:rPr>
                        <a:t>Key Contribution</a:t>
                      </a:r>
                      <a:endParaRPr sz="2000" b="1" kern="1200" dirty="0">
                        <a:solidFill>
                          <a:srgbClr val="1B3A6B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14300" marR="114300" marT="76200" marB="76200">
                    <a:lnL w="9525" cap="flat" cmpd="sng">
                      <a:solidFill>
                        <a:srgbClr val="1B1C1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B1C1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B1C1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B1C1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02637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>
                          <a:solidFill>
                            <a:srgbClr val="1B1C1D"/>
                          </a:solidFill>
                        </a:rPr>
                        <a:t>Singh &amp; Kumar (2023)</a:t>
                      </a:r>
                      <a:endParaRPr sz="1600" b="1">
                        <a:solidFill>
                          <a:srgbClr val="1B1C1D"/>
                        </a:solidFill>
                      </a:endParaRPr>
                    </a:p>
                  </a:txBody>
                  <a:tcPr marL="114300" marR="114300" marT="76200" marB="76200">
                    <a:lnL w="9525" cap="flat" cmpd="sng">
                      <a:solidFill>
                        <a:srgbClr val="1B1C1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B1C1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B1C1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B1C1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>
                          <a:solidFill>
                            <a:srgbClr val="1B1C1D"/>
                          </a:solidFill>
                        </a:rPr>
                        <a:t>The lack of high-resolution data on minor roads and their widths, which hinders emergency vehicle (EV) access in dense, unplanned settlements.</a:t>
                      </a:r>
                      <a:endParaRPr sz="1600" dirty="0">
                        <a:solidFill>
                          <a:srgbClr val="1B1C1D"/>
                        </a:solidFill>
                      </a:endParaRPr>
                    </a:p>
                  </a:txBody>
                  <a:tcPr marL="114300" marR="114300" marT="76200" marB="76200">
                    <a:lnL w="9525" cap="flat" cmpd="sng">
                      <a:solidFill>
                        <a:srgbClr val="1B1C1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B1C1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B1C1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B1C1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B1C1D"/>
                          </a:solidFill>
                        </a:rPr>
                        <a:t>A two-stage methodology that uses a DNN to classify minor roads from satellite imagery and a novel algorithm to calculate road width, producing the first EV accessibility maps for these areas.</a:t>
                      </a:r>
                      <a:endParaRPr sz="1600">
                        <a:solidFill>
                          <a:srgbClr val="1B1C1D"/>
                        </a:solidFill>
                      </a:endParaRPr>
                    </a:p>
                  </a:txBody>
                  <a:tcPr marL="114300" marR="114300" marT="76200" marB="76200">
                    <a:lnL w="9525" cap="flat" cmpd="sng">
                      <a:solidFill>
                        <a:srgbClr val="1B1C1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B1C1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B1C1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B1C1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99582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>
                          <a:solidFill>
                            <a:srgbClr val="1B1C1D"/>
                          </a:solidFill>
                        </a:rPr>
                        <a:t>Graham (2025)</a:t>
                      </a:r>
                      <a:endParaRPr sz="1600" b="1">
                        <a:solidFill>
                          <a:srgbClr val="1B1C1D"/>
                        </a:solidFill>
                      </a:endParaRPr>
                    </a:p>
                  </a:txBody>
                  <a:tcPr marL="114300" marR="114300" marT="76200" marB="76200">
                    <a:lnL w="9525" cap="flat" cmpd="sng">
                      <a:solidFill>
                        <a:srgbClr val="1B1C1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B1C1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B1C1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B1C1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B1C1D"/>
                          </a:solidFill>
                        </a:rPr>
                        <a:t>The common failure in transport research to distinguish correlation from causation, leading to flawed policy evaluations.</a:t>
                      </a:r>
                      <a:endParaRPr sz="1600">
                        <a:solidFill>
                          <a:srgbClr val="1B1C1D"/>
                        </a:solidFill>
                      </a:endParaRPr>
                    </a:p>
                  </a:txBody>
                  <a:tcPr marL="114300" marR="114300" marT="76200" marB="76200">
                    <a:lnL w="9525" cap="flat" cmpd="sng">
                      <a:solidFill>
                        <a:srgbClr val="1B1C1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B1C1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B1C1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B1C1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B1C1D"/>
                          </a:solidFill>
                        </a:rPr>
                        <a:t>Provides a consolidated statistical framework for causal inference (using "potential outcomes") and summarizes core estimation methods for non-experimental transport data.</a:t>
                      </a:r>
                      <a:endParaRPr sz="1600">
                        <a:solidFill>
                          <a:srgbClr val="1B1C1D"/>
                        </a:solidFill>
                      </a:endParaRPr>
                    </a:p>
                  </a:txBody>
                  <a:tcPr marL="114300" marR="114300" marT="76200" marB="76200">
                    <a:lnL w="9525" cap="flat" cmpd="sng">
                      <a:solidFill>
                        <a:srgbClr val="1B1C1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B1C1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B1C1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B1C1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99582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dirty="0">
                          <a:solidFill>
                            <a:srgbClr val="1B1C1D"/>
                          </a:solidFill>
                        </a:rPr>
                        <a:t>Huang et al. (2024)</a:t>
                      </a:r>
                      <a:endParaRPr sz="1600" b="1" dirty="0">
                        <a:solidFill>
                          <a:srgbClr val="1B1C1D"/>
                        </a:solidFill>
                      </a:endParaRPr>
                    </a:p>
                  </a:txBody>
                  <a:tcPr marL="114300" marR="114300" marT="76200" marB="76200">
                    <a:lnL w="9525" cap="flat" cmpd="sng">
                      <a:solidFill>
                        <a:srgbClr val="1B1C1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B1C1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B1C1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B1C1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B1C1D"/>
                          </a:solidFill>
                        </a:rPr>
                        <a:t>The difficulty of accurately predicting substation flood risk, which depends on a complex mix of dynamic (weather) and static (terrain) features.</a:t>
                      </a:r>
                      <a:endParaRPr sz="1600">
                        <a:solidFill>
                          <a:srgbClr val="1B1C1D"/>
                        </a:solidFill>
                      </a:endParaRPr>
                    </a:p>
                  </a:txBody>
                  <a:tcPr marL="114300" marR="114300" marT="76200" marB="76200">
                    <a:lnL w="9525" cap="flat" cmpd="sng">
                      <a:solidFill>
                        <a:srgbClr val="1B1C1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B1C1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B1C1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B1C1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>
                          <a:solidFill>
                            <a:srgbClr val="1B1C1D"/>
                          </a:solidFill>
                        </a:rPr>
                        <a:t>A successful application of the Temporal Fusion Transformer (TFT) to flood risk, demonstrating its superior ability to differentiate and integrate these multi-type inputs for accurate prediction.</a:t>
                      </a:r>
                      <a:endParaRPr sz="1600" dirty="0">
                        <a:solidFill>
                          <a:srgbClr val="1B1C1D"/>
                        </a:solidFill>
                      </a:endParaRPr>
                    </a:p>
                  </a:txBody>
                  <a:tcPr marL="114300" marR="114300" marT="76200" marB="76200">
                    <a:lnL w="9525" cap="flat" cmpd="sng">
                      <a:solidFill>
                        <a:srgbClr val="1B1C1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B1C1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B1C1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B1C1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 3">
            <a:extLst>
              <a:ext uri="{FF2B5EF4-FFF2-40B4-BE49-F238E27FC236}">
                <a16:creationId xmlns:a16="http://schemas.microsoft.com/office/drawing/2014/main" id="{F92C3D4D-A787-A79F-C6A4-D9A9E8411574}"/>
              </a:ext>
            </a:extLst>
          </p:cNvPr>
          <p:cNvSpPr/>
          <p:nvPr/>
        </p:nvSpPr>
        <p:spPr>
          <a:xfrm>
            <a:off x="7498080" y="0"/>
            <a:ext cx="1554480" cy="1959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8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6 /23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4061841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65836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Research Gaps — Why Current Systems Fail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64592" y="804672"/>
            <a:ext cx="8979408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274320" y="877824"/>
            <a:ext cx="777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07B2A"/>
                </a:solidFill>
              </a:rPr>
              <a:t>01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1097280" y="969264"/>
            <a:ext cx="0" cy="91440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1261872" y="896112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6B"/>
                </a:solidFill>
              </a:rPr>
              <a:t>Exogenous Shocks Ignored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261872" y="1261872"/>
            <a:ext cx="7680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</a:rPr>
              <a:t>Monsoon rains and major festivals are treated as statistical noise rather than primary predictive signals. This causes catastrophic forecast failures on the most critical high-congestion days.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64592" y="2221992"/>
            <a:ext cx="8979408" cy="1298448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274320" y="2295144"/>
            <a:ext cx="777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07B2A"/>
                </a:solidFill>
              </a:rPr>
              <a:t>02</a:t>
            </a:r>
            <a:endParaRPr lang="en-US" sz="3600" dirty="0"/>
          </a:p>
        </p:txBody>
      </p:sp>
      <p:sp>
        <p:nvSpPr>
          <p:cNvPr id="12" name="Shape 10"/>
          <p:cNvSpPr/>
          <p:nvPr/>
        </p:nvSpPr>
        <p:spPr>
          <a:xfrm>
            <a:off x="1097280" y="2386584"/>
            <a:ext cx="0" cy="91440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1261872" y="2313432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6B"/>
                </a:solidFill>
              </a:rPr>
              <a:t>Correlation ≠ Causation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261872" y="2679192"/>
            <a:ext cx="7680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</a:rPr>
              <a:t>Systems model the correlation between accidents and delays — but fail to disentangle true causal impact from confounders like peak-hour traffic. This misattributes delays and produces suboptimal routes.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64592" y="3639312"/>
            <a:ext cx="8979408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274320" y="3712464"/>
            <a:ext cx="777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07B2A"/>
                </a:solidFill>
              </a:rPr>
              <a:t>03</a:t>
            </a:r>
            <a:endParaRPr lang="en-US" sz="3600" dirty="0"/>
          </a:p>
        </p:txBody>
      </p:sp>
      <p:sp>
        <p:nvSpPr>
          <p:cNvPr id="17" name="Shape 15"/>
          <p:cNvSpPr/>
          <p:nvPr/>
        </p:nvSpPr>
        <p:spPr>
          <a:xfrm>
            <a:off x="1097280" y="3803904"/>
            <a:ext cx="0" cy="91440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1261872" y="3730752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6B"/>
                </a:solidFill>
              </a:rPr>
              <a:t>Single Deterministic Route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261872" y="4096512"/>
            <a:ext cx="7680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</a:rPr>
              <a:t>One 'fastest' path ignores forecast uncertainty, incident risk, and PM2.5 pollution exposure. Emergency vehicles and patients need routes that balance speed, safety, and health simultaneously.</a:t>
            </a:r>
            <a:endParaRPr lang="en-US" sz="1600" dirty="0"/>
          </a:p>
        </p:txBody>
      </p:sp>
      <p:sp>
        <p:nvSpPr>
          <p:cNvPr id="21" name="Text 3">
            <a:extLst>
              <a:ext uri="{FF2B5EF4-FFF2-40B4-BE49-F238E27FC236}">
                <a16:creationId xmlns:a16="http://schemas.microsoft.com/office/drawing/2014/main" id="{D6022555-C42F-6DCD-96A0-2A4D2546EE2F}"/>
              </a:ext>
            </a:extLst>
          </p:cNvPr>
          <p:cNvSpPr/>
          <p:nvPr/>
        </p:nvSpPr>
        <p:spPr>
          <a:xfrm>
            <a:off x="7498080" y="0"/>
            <a:ext cx="1554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8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7/23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65836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Proposed Five-Stage Pipeline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64592" y="777240"/>
            <a:ext cx="8979408" cy="777240"/>
          </a:xfrm>
          <a:prstGeom prst="rect">
            <a:avLst/>
          </a:prstGeom>
          <a:solidFill>
            <a:srgbClr val="EEF2F8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164592" y="777240"/>
            <a:ext cx="658368" cy="7772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64592" y="777240"/>
            <a:ext cx="65836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932688" y="832104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3A6B"/>
                </a:solidFill>
              </a:rPr>
              <a:t>Data Ingestion &amp; Preprocessing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932688" y="1179576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</a:rPr>
              <a:t>Traffic density · Signal timing · GPS · IMD weather · Festival calendars · OSM road network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64592" y="1636776"/>
            <a:ext cx="8979408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164592" y="1636776"/>
            <a:ext cx="658368" cy="7772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164592" y="1636776"/>
            <a:ext cx="65836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932688" y="1691640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3A6B"/>
                </a:solidFill>
              </a:rPr>
              <a:t>Uncertainty-Aware Traffic Prediction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932688" y="2039112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</a:rPr>
              <a:t>Hybrid TFT + GNN model — outputs P10 / P50 / P90 quantile forecasts with uncertainty bands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64592" y="2496312"/>
            <a:ext cx="8979408" cy="777240"/>
          </a:xfrm>
          <a:prstGeom prst="rect">
            <a:avLst/>
          </a:prstGeom>
          <a:solidFill>
            <a:srgbClr val="EEF2F8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164592" y="2496312"/>
            <a:ext cx="658368" cy="7772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164592" y="2496312"/>
            <a:ext cx="65836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3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932688" y="2551176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3A6B"/>
                </a:solidFill>
              </a:rPr>
              <a:t>Causal Modeling of Incident Impact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932688" y="2898648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</a:rPr>
              <a:t>DoWhy library — estimates ATE (avg. delay caused by incident) controlling for confounders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164592" y="3355848"/>
            <a:ext cx="8979408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164592" y="3355848"/>
            <a:ext cx="658368" cy="7772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164592" y="3355848"/>
            <a:ext cx="65836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4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932688" y="3410712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3A6B"/>
                </a:solidFill>
              </a:rPr>
              <a:t>Multi-Objective Routing Engine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932688" y="3758184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</a:rPr>
              <a:t>Pareto-optimal paths via A*: balances ETA, uncertainty, incident risk, PM2.5 exposure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164592" y="4215384"/>
            <a:ext cx="8979408" cy="777240"/>
          </a:xfrm>
          <a:prstGeom prst="rect">
            <a:avLst/>
          </a:prstGeom>
          <a:solidFill>
            <a:srgbClr val="EEF2F8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164592" y="4215384"/>
            <a:ext cx="658368" cy="7772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164592" y="4215384"/>
            <a:ext cx="65836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5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932688" y="4270248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3A6B"/>
                </a:solidFill>
              </a:rPr>
              <a:t>Deployment &amp; Interactive Dashboard</a:t>
            </a:r>
            <a:endParaRPr lang="en-US" sz="1900" dirty="0"/>
          </a:p>
        </p:txBody>
      </p:sp>
      <p:sp>
        <p:nvSpPr>
          <p:cNvPr id="29" name="Text 27"/>
          <p:cNvSpPr/>
          <p:nvPr/>
        </p:nvSpPr>
        <p:spPr>
          <a:xfrm>
            <a:off x="932688" y="4617720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</a:rPr>
              <a:t>Streamlit + Plotly — real-time congestion maps, incident annotations, route comparisons</a:t>
            </a:r>
            <a:endParaRPr lang="en-US" sz="1400" dirty="0"/>
          </a:p>
        </p:txBody>
      </p:sp>
      <p:sp>
        <p:nvSpPr>
          <p:cNvPr id="31" name="Text 3">
            <a:extLst>
              <a:ext uri="{FF2B5EF4-FFF2-40B4-BE49-F238E27FC236}">
                <a16:creationId xmlns:a16="http://schemas.microsoft.com/office/drawing/2014/main" id="{FDC1A673-1BE7-16F9-8E8D-77A4B18CBF08}"/>
              </a:ext>
            </a:extLst>
          </p:cNvPr>
          <p:cNvSpPr/>
          <p:nvPr/>
        </p:nvSpPr>
        <p:spPr>
          <a:xfrm>
            <a:off x="7498080" y="0"/>
            <a:ext cx="1554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8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8 /23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65836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</a:rPr>
              <a:t>Stage 1 — Heterogeneous Data Ingestion &amp; Preprocessing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256032" y="804672"/>
            <a:ext cx="4251960" cy="1024128"/>
          </a:xfrm>
          <a:prstGeom prst="rect">
            <a:avLst/>
          </a:prstGeom>
          <a:solidFill>
            <a:srgbClr val="EEF2F8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256032" y="804672"/>
            <a:ext cx="109728" cy="1024128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57200" y="89611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6B"/>
                </a:solidFill>
              </a:rPr>
              <a:t>Traffic Density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129844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44444"/>
                </a:solidFill>
              </a:rPr>
              <a:t>Vision-based sensors, Delhi Bangalore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690872" y="804672"/>
            <a:ext cx="425196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690872" y="804672"/>
            <a:ext cx="109728" cy="1024128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892040" y="89611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6B"/>
                </a:solidFill>
              </a:rPr>
              <a:t>Signal Timing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892040" y="129844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44444"/>
                </a:solidFill>
              </a:rPr>
              <a:t>Bengaluru traffic signals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56032" y="1993392"/>
            <a:ext cx="4251960" cy="1024128"/>
          </a:xfrm>
          <a:prstGeom prst="rect">
            <a:avLst/>
          </a:prstGeom>
          <a:solidFill>
            <a:srgbClr val="EEF2F8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256032" y="1993392"/>
            <a:ext cx="109728" cy="1024128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57200" y="208483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6B"/>
                </a:solidFill>
              </a:rPr>
              <a:t>Bus GPS Traces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57200" y="248716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44444"/>
                </a:solidFill>
              </a:rPr>
              <a:t>Travel times, Delhi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690872" y="1993392"/>
            <a:ext cx="425196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4690872" y="1993392"/>
            <a:ext cx="109728" cy="1024128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892040" y="208483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6B"/>
                </a:solidFill>
              </a:rPr>
              <a:t>IMD Weather Data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892040" y="248716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44444"/>
                </a:solidFill>
              </a:rPr>
              <a:t>Rainfall, storms, monsoon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256032" y="3182112"/>
            <a:ext cx="4251960" cy="1024128"/>
          </a:xfrm>
          <a:prstGeom prst="rect">
            <a:avLst/>
          </a:prstGeom>
          <a:solidFill>
            <a:srgbClr val="EEF2F8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256032" y="3182112"/>
            <a:ext cx="109728" cy="1024128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57200" y="327355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6B"/>
                </a:solidFill>
              </a:rPr>
              <a:t>Festival Calendar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457200" y="367588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44444"/>
                </a:solidFill>
              </a:rPr>
              <a:t>Diwali, public holidays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690872" y="3182112"/>
            <a:ext cx="425196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4690872" y="3182112"/>
            <a:ext cx="109728" cy="1024128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4892040" y="327355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6B"/>
                </a:solidFill>
              </a:rPr>
              <a:t>OSM Road Network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4892040" y="367588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44444"/>
                </a:solidFill>
              </a:rPr>
              <a:t>Graph topology &amp; geometry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164592" y="4370832"/>
            <a:ext cx="8979408" cy="74980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320040" y="4370832"/>
            <a:ext cx="8686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Preprocessing:  All streams → 5-minute intervals   ·   One-hot encoding for weather ('light rain', 'heavy rain') and events ('Diwali', 'public holiday')</a:t>
            </a:r>
            <a:endParaRPr lang="en-US" sz="1600" dirty="0"/>
          </a:p>
        </p:txBody>
      </p:sp>
      <p:sp>
        <p:nvSpPr>
          <p:cNvPr id="32" name="Text 3">
            <a:extLst>
              <a:ext uri="{FF2B5EF4-FFF2-40B4-BE49-F238E27FC236}">
                <a16:creationId xmlns:a16="http://schemas.microsoft.com/office/drawing/2014/main" id="{6EF333C7-5014-D0D3-BAC8-77C0467A5BE8}"/>
              </a:ext>
            </a:extLst>
          </p:cNvPr>
          <p:cNvSpPr/>
          <p:nvPr/>
        </p:nvSpPr>
        <p:spPr>
          <a:xfrm>
            <a:off x="7498080" y="0"/>
            <a:ext cx="1554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8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9/23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4">
            <a:extLst>
              <a:ext uri="{FF2B5EF4-FFF2-40B4-BE49-F238E27FC236}">
                <a16:creationId xmlns:a16="http://schemas.microsoft.com/office/drawing/2014/main" id="{C352FEB5-E1E5-FFBE-69AF-421EBF925A9A}"/>
              </a:ext>
            </a:extLst>
          </p:cNvPr>
          <p:cNvSpPr/>
          <p:nvPr/>
        </p:nvSpPr>
        <p:spPr>
          <a:xfrm>
            <a:off x="256032" y="1078992"/>
            <a:ext cx="4206240" cy="3730752"/>
          </a:xfrm>
          <a:prstGeom prst="rect">
            <a:avLst/>
          </a:prstGeom>
          <a:solidFill>
            <a:srgbClr val="FFFFFF"/>
          </a:solidFill>
          <a:ln w="6350">
            <a:solidFill>
              <a:srgbClr val="DADEEA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" name="Shape 5">
            <a:extLst>
              <a:ext uri="{FF2B5EF4-FFF2-40B4-BE49-F238E27FC236}">
                <a16:creationId xmlns:a16="http://schemas.microsoft.com/office/drawing/2014/main" id="{E2FD367E-B1B9-99C3-31CD-CE5CA729BD3F}"/>
              </a:ext>
            </a:extLst>
          </p:cNvPr>
          <p:cNvSpPr/>
          <p:nvPr/>
        </p:nvSpPr>
        <p:spPr>
          <a:xfrm>
            <a:off x="256032" y="1078992"/>
            <a:ext cx="4206240" cy="329184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4" name="Text 6">
            <a:extLst>
              <a:ext uri="{FF2B5EF4-FFF2-40B4-BE49-F238E27FC236}">
                <a16:creationId xmlns:a16="http://schemas.microsoft.com/office/drawing/2014/main" id="{C1DF9211-415B-E02B-D4D9-662A4251C134}"/>
              </a:ext>
            </a:extLst>
          </p:cNvPr>
          <p:cNvSpPr/>
          <p:nvPr/>
        </p:nvSpPr>
        <p:spPr>
          <a:xfrm>
            <a:off x="365760" y="1078992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Fusion Transformer</a:t>
            </a:r>
            <a:endParaRPr lang="en-US" sz="2000" dirty="0"/>
          </a:p>
        </p:txBody>
      </p:sp>
      <p:sp>
        <p:nvSpPr>
          <p:cNvPr id="5" name="Text 7">
            <a:extLst>
              <a:ext uri="{FF2B5EF4-FFF2-40B4-BE49-F238E27FC236}">
                <a16:creationId xmlns:a16="http://schemas.microsoft.com/office/drawing/2014/main" id="{FF47101C-94A6-74B2-C2E1-2ED71AEB5CB5}"/>
              </a:ext>
            </a:extLst>
          </p:cNvPr>
          <p:cNvSpPr/>
          <p:nvPr/>
        </p:nvSpPr>
        <p:spPr>
          <a:xfrm>
            <a:off x="384048" y="146304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7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840,671 trainable parameters  ·  3 quantile outputs</a:t>
            </a:r>
            <a:endParaRPr lang="en-US" sz="1400" dirty="0"/>
          </a:p>
        </p:txBody>
      </p:sp>
      <p:sp>
        <p:nvSpPr>
          <p:cNvPr id="6" name="Shape 8">
            <a:extLst>
              <a:ext uri="{FF2B5EF4-FFF2-40B4-BE49-F238E27FC236}">
                <a16:creationId xmlns:a16="http://schemas.microsoft.com/office/drawing/2014/main" id="{7B5945DF-7713-FCE3-A74C-43497E176DC2}"/>
              </a:ext>
            </a:extLst>
          </p:cNvPr>
          <p:cNvSpPr/>
          <p:nvPr/>
        </p:nvSpPr>
        <p:spPr>
          <a:xfrm>
            <a:off x="384048" y="1801368"/>
            <a:ext cx="64008" cy="365760"/>
          </a:xfrm>
          <a:prstGeom prst="rect">
            <a:avLst/>
          </a:prstGeom>
          <a:solidFill>
            <a:srgbClr val="D4722A"/>
          </a:solidFill>
          <a:ln w="12700">
            <a:solidFill>
              <a:srgbClr val="D4722A"/>
            </a:solidFill>
            <a:prstDash val="solid"/>
          </a:ln>
        </p:spPr>
      </p:sp>
      <p:sp>
        <p:nvSpPr>
          <p:cNvPr id="7" name="Text 9">
            <a:extLst>
              <a:ext uri="{FF2B5EF4-FFF2-40B4-BE49-F238E27FC236}">
                <a16:creationId xmlns:a16="http://schemas.microsoft.com/office/drawing/2014/main" id="{8E4DB4E9-E6A4-ADE0-9AE4-2705280AB11D}"/>
              </a:ext>
            </a:extLst>
          </p:cNvPr>
          <p:cNvSpPr/>
          <p:nvPr/>
        </p:nvSpPr>
        <p:spPr>
          <a:xfrm>
            <a:off x="530352" y="1801368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Selection Network</a:t>
            </a:r>
            <a:endParaRPr lang="en-US" sz="1400" dirty="0"/>
          </a:p>
        </p:txBody>
      </p:sp>
      <p:sp>
        <p:nvSpPr>
          <p:cNvPr id="8" name="Text 10">
            <a:extLst>
              <a:ext uri="{FF2B5EF4-FFF2-40B4-BE49-F238E27FC236}">
                <a16:creationId xmlns:a16="http://schemas.microsoft.com/office/drawing/2014/main" id="{77BB587F-2BBC-1594-66FA-01CA926CC3D9}"/>
              </a:ext>
            </a:extLst>
          </p:cNvPr>
          <p:cNvSpPr/>
          <p:nvPr/>
        </p:nvSpPr>
        <p:spPr>
          <a:xfrm>
            <a:off x="530352" y="1984248"/>
            <a:ext cx="3794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C9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which features matter most per timestep</a:t>
            </a:r>
            <a:endParaRPr lang="en-US" sz="1200" dirty="0"/>
          </a:p>
        </p:txBody>
      </p:sp>
      <p:sp>
        <p:nvSpPr>
          <p:cNvPr id="9" name="Shape 11">
            <a:extLst>
              <a:ext uri="{FF2B5EF4-FFF2-40B4-BE49-F238E27FC236}">
                <a16:creationId xmlns:a16="http://schemas.microsoft.com/office/drawing/2014/main" id="{DB5033D1-9B2F-54F0-8D52-FD8FB01F4BF0}"/>
              </a:ext>
            </a:extLst>
          </p:cNvPr>
          <p:cNvSpPr/>
          <p:nvPr/>
        </p:nvSpPr>
        <p:spPr>
          <a:xfrm>
            <a:off x="384048" y="2286000"/>
            <a:ext cx="64008" cy="365760"/>
          </a:xfrm>
          <a:prstGeom prst="rect">
            <a:avLst/>
          </a:prstGeom>
          <a:solidFill>
            <a:srgbClr val="D4722A"/>
          </a:solidFill>
          <a:ln w="12700">
            <a:solidFill>
              <a:srgbClr val="D4722A"/>
            </a:solidFill>
            <a:prstDash val="solid"/>
          </a:ln>
        </p:spPr>
      </p:sp>
      <p:sp>
        <p:nvSpPr>
          <p:cNvPr id="10" name="Text 12">
            <a:extLst>
              <a:ext uri="{FF2B5EF4-FFF2-40B4-BE49-F238E27FC236}">
                <a16:creationId xmlns:a16="http://schemas.microsoft.com/office/drawing/2014/main" id="{E913C9D3-027B-90A2-F7D1-A492D897B13D}"/>
              </a:ext>
            </a:extLst>
          </p:cNvPr>
          <p:cNvSpPr/>
          <p:nvPr/>
        </p:nvSpPr>
        <p:spPr>
          <a:xfrm>
            <a:off x="530352" y="2286000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Gated Residual Network (GRN)</a:t>
            </a:r>
            <a:endParaRPr lang="en-US" sz="1400" dirty="0"/>
          </a:p>
        </p:txBody>
      </p:sp>
      <p:sp>
        <p:nvSpPr>
          <p:cNvPr id="11" name="Text 13">
            <a:extLst>
              <a:ext uri="{FF2B5EF4-FFF2-40B4-BE49-F238E27FC236}">
                <a16:creationId xmlns:a16="http://schemas.microsoft.com/office/drawing/2014/main" id="{BB6DC110-B60D-15A7-3EE1-8C7A0121397F}"/>
              </a:ext>
            </a:extLst>
          </p:cNvPr>
          <p:cNvSpPr/>
          <p:nvPr/>
        </p:nvSpPr>
        <p:spPr>
          <a:xfrm>
            <a:off x="530352" y="2468880"/>
            <a:ext cx="3794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C9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connections with gating — core TFT block</a:t>
            </a:r>
            <a:endParaRPr lang="en-US" sz="1200" dirty="0"/>
          </a:p>
        </p:txBody>
      </p:sp>
      <p:sp>
        <p:nvSpPr>
          <p:cNvPr id="12" name="Shape 14">
            <a:extLst>
              <a:ext uri="{FF2B5EF4-FFF2-40B4-BE49-F238E27FC236}">
                <a16:creationId xmlns:a16="http://schemas.microsoft.com/office/drawing/2014/main" id="{CB6E04D5-7ED8-546C-AD34-AB99797931FC}"/>
              </a:ext>
            </a:extLst>
          </p:cNvPr>
          <p:cNvSpPr/>
          <p:nvPr/>
        </p:nvSpPr>
        <p:spPr>
          <a:xfrm>
            <a:off x="384048" y="2770632"/>
            <a:ext cx="64008" cy="365760"/>
          </a:xfrm>
          <a:prstGeom prst="rect">
            <a:avLst/>
          </a:prstGeom>
          <a:solidFill>
            <a:srgbClr val="D4722A"/>
          </a:solidFill>
          <a:ln w="12700">
            <a:solidFill>
              <a:srgbClr val="D4722A"/>
            </a:solidFill>
            <a:prstDash val="solid"/>
          </a:ln>
        </p:spPr>
      </p:sp>
      <p:sp>
        <p:nvSpPr>
          <p:cNvPr id="13" name="Text 15">
            <a:extLst>
              <a:ext uri="{FF2B5EF4-FFF2-40B4-BE49-F238E27FC236}">
                <a16:creationId xmlns:a16="http://schemas.microsoft.com/office/drawing/2014/main" id="{538EA51A-1A12-3BA7-B9DB-55070C93DB6C}"/>
              </a:ext>
            </a:extLst>
          </p:cNvPr>
          <p:cNvSpPr/>
          <p:nvPr/>
        </p:nvSpPr>
        <p:spPr>
          <a:xfrm>
            <a:off x="530352" y="2770632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Encoder (12 steps)</a:t>
            </a:r>
            <a:endParaRPr lang="en-US" sz="1400" dirty="0"/>
          </a:p>
        </p:txBody>
      </p:sp>
      <p:sp>
        <p:nvSpPr>
          <p:cNvPr id="14" name="Text 16">
            <a:extLst>
              <a:ext uri="{FF2B5EF4-FFF2-40B4-BE49-F238E27FC236}">
                <a16:creationId xmlns:a16="http://schemas.microsoft.com/office/drawing/2014/main" id="{09C5C92A-4EDC-99FF-3602-BF0DE6A4B114}"/>
              </a:ext>
            </a:extLst>
          </p:cNvPr>
          <p:cNvSpPr/>
          <p:nvPr/>
        </p:nvSpPr>
        <p:spPr>
          <a:xfrm>
            <a:off x="530352" y="2953512"/>
            <a:ext cx="3794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C9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hour of lookback history per road segment</a:t>
            </a:r>
            <a:endParaRPr lang="en-US" sz="1200" dirty="0"/>
          </a:p>
        </p:txBody>
      </p:sp>
      <p:sp>
        <p:nvSpPr>
          <p:cNvPr id="15" name="Shape 17">
            <a:extLst>
              <a:ext uri="{FF2B5EF4-FFF2-40B4-BE49-F238E27FC236}">
                <a16:creationId xmlns:a16="http://schemas.microsoft.com/office/drawing/2014/main" id="{EDB3CF46-4FC8-C9EC-29A6-B27BAE1535F6}"/>
              </a:ext>
            </a:extLst>
          </p:cNvPr>
          <p:cNvSpPr/>
          <p:nvPr/>
        </p:nvSpPr>
        <p:spPr>
          <a:xfrm>
            <a:off x="384048" y="3255264"/>
            <a:ext cx="64008" cy="365760"/>
          </a:xfrm>
          <a:prstGeom prst="rect">
            <a:avLst/>
          </a:prstGeom>
          <a:solidFill>
            <a:srgbClr val="D4722A"/>
          </a:solidFill>
          <a:ln w="12700">
            <a:solidFill>
              <a:srgbClr val="D4722A"/>
            </a:solidFill>
            <a:prstDash val="solid"/>
          </a:ln>
        </p:spPr>
      </p:sp>
      <p:sp>
        <p:nvSpPr>
          <p:cNvPr id="16" name="Text 18">
            <a:extLst>
              <a:ext uri="{FF2B5EF4-FFF2-40B4-BE49-F238E27FC236}">
                <a16:creationId xmlns:a16="http://schemas.microsoft.com/office/drawing/2014/main" id="{252BCD9C-6C58-79C0-A644-8A13FCA4BA98}"/>
              </a:ext>
            </a:extLst>
          </p:cNvPr>
          <p:cNvSpPr/>
          <p:nvPr/>
        </p:nvSpPr>
        <p:spPr>
          <a:xfrm>
            <a:off x="530352" y="3255264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Decoder (6 steps)</a:t>
            </a:r>
            <a:endParaRPr lang="en-US" sz="1400" dirty="0"/>
          </a:p>
        </p:txBody>
      </p:sp>
      <p:sp>
        <p:nvSpPr>
          <p:cNvPr id="17" name="Text 19">
            <a:extLst>
              <a:ext uri="{FF2B5EF4-FFF2-40B4-BE49-F238E27FC236}">
                <a16:creationId xmlns:a16="http://schemas.microsoft.com/office/drawing/2014/main" id="{411652CA-3891-23EE-D391-3C8BE5867F4F}"/>
              </a:ext>
            </a:extLst>
          </p:cNvPr>
          <p:cNvSpPr/>
          <p:nvPr/>
        </p:nvSpPr>
        <p:spPr>
          <a:xfrm>
            <a:off x="530352" y="3438144"/>
            <a:ext cx="3794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C9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30-minute forecast horizon</a:t>
            </a:r>
            <a:endParaRPr lang="en-US" sz="1200" dirty="0"/>
          </a:p>
        </p:txBody>
      </p:sp>
      <p:sp>
        <p:nvSpPr>
          <p:cNvPr id="18" name="Shape 20">
            <a:extLst>
              <a:ext uri="{FF2B5EF4-FFF2-40B4-BE49-F238E27FC236}">
                <a16:creationId xmlns:a16="http://schemas.microsoft.com/office/drawing/2014/main" id="{CB14412C-AE9A-E5BC-E466-59458CC2D6BF}"/>
              </a:ext>
            </a:extLst>
          </p:cNvPr>
          <p:cNvSpPr/>
          <p:nvPr/>
        </p:nvSpPr>
        <p:spPr>
          <a:xfrm>
            <a:off x="384048" y="3739896"/>
            <a:ext cx="64008" cy="365760"/>
          </a:xfrm>
          <a:prstGeom prst="rect">
            <a:avLst/>
          </a:prstGeom>
          <a:solidFill>
            <a:srgbClr val="D4722A"/>
          </a:solidFill>
          <a:ln w="12700">
            <a:solidFill>
              <a:srgbClr val="D4722A"/>
            </a:solidFill>
            <a:prstDash val="solid"/>
          </a:ln>
        </p:spPr>
      </p:sp>
      <p:sp>
        <p:nvSpPr>
          <p:cNvPr id="19" name="Text 21">
            <a:extLst>
              <a:ext uri="{FF2B5EF4-FFF2-40B4-BE49-F238E27FC236}">
                <a16:creationId xmlns:a16="http://schemas.microsoft.com/office/drawing/2014/main" id="{DB410D39-C21A-9AC5-0E74-563C9B5C2BE5}"/>
              </a:ext>
            </a:extLst>
          </p:cNvPr>
          <p:cNvSpPr/>
          <p:nvPr/>
        </p:nvSpPr>
        <p:spPr>
          <a:xfrm>
            <a:off x="530352" y="3739896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Multi-Head Attention (4 heads)</a:t>
            </a:r>
            <a:endParaRPr lang="en-US" sz="1400" dirty="0"/>
          </a:p>
        </p:txBody>
      </p:sp>
      <p:sp>
        <p:nvSpPr>
          <p:cNvPr id="20" name="Text 22">
            <a:extLst>
              <a:ext uri="{FF2B5EF4-FFF2-40B4-BE49-F238E27FC236}">
                <a16:creationId xmlns:a16="http://schemas.microsoft.com/office/drawing/2014/main" id="{657506F5-B954-64EF-7936-5F6278A5375A}"/>
              </a:ext>
            </a:extLst>
          </p:cNvPr>
          <p:cNvSpPr/>
          <p:nvPr/>
        </p:nvSpPr>
        <p:spPr>
          <a:xfrm>
            <a:off x="530352" y="3922776"/>
            <a:ext cx="3794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C9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long-range temporal dependencies</a:t>
            </a:r>
            <a:endParaRPr lang="en-US" sz="1200" dirty="0"/>
          </a:p>
        </p:txBody>
      </p:sp>
      <p:sp>
        <p:nvSpPr>
          <p:cNvPr id="21" name="Shape 23">
            <a:extLst>
              <a:ext uri="{FF2B5EF4-FFF2-40B4-BE49-F238E27FC236}">
                <a16:creationId xmlns:a16="http://schemas.microsoft.com/office/drawing/2014/main" id="{D17A889E-5028-CE54-61F9-225092AA62C0}"/>
              </a:ext>
            </a:extLst>
          </p:cNvPr>
          <p:cNvSpPr/>
          <p:nvPr/>
        </p:nvSpPr>
        <p:spPr>
          <a:xfrm>
            <a:off x="384048" y="4224528"/>
            <a:ext cx="64008" cy="365760"/>
          </a:xfrm>
          <a:prstGeom prst="rect">
            <a:avLst/>
          </a:prstGeom>
          <a:solidFill>
            <a:srgbClr val="D4722A"/>
          </a:solidFill>
          <a:ln w="12700">
            <a:solidFill>
              <a:srgbClr val="D4722A"/>
            </a:solidFill>
            <a:prstDash val="solid"/>
          </a:ln>
        </p:spPr>
      </p:sp>
      <p:sp>
        <p:nvSpPr>
          <p:cNvPr id="22" name="Text 24">
            <a:extLst>
              <a:ext uri="{FF2B5EF4-FFF2-40B4-BE49-F238E27FC236}">
                <a16:creationId xmlns:a16="http://schemas.microsoft.com/office/drawing/2014/main" id="{115E749F-9F63-1BFA-E6E4-9B48F48ABAC5}"/>
              </a:ext>
            </a:extLst>
          </p:cNvPr>
          <p:cNvSpPr/>
          <p:nvPr/>
        </p:nvSpPr>
        <p:spPr>
          <a:xfrm>
            <a:off x="530352" y="4224528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Quantile Output Head</a:t>
            </a:r>
            <a:endParaRPr lang="en-US" sz="1400" dirty="0"/>
          </a:p>
        </p:txBody>
      </p:sp>
      <p:sp>
        <p:nvSpPr>
          <p:cNvPr id="23" name="Text 25">
            <a:extLst>
              <a:ext uri="{FF2B5EF4-FFF2-40B4-BE49-F238E27FC236}">
                <a16:creationId xmlns:a16="http://schemas.microsoft.com/office/drawing/2014/main" id="{D78E0E9D-C3C0-4160-6AB5-C042DF0CB3AF}"/>
              </a:ext>
            </a:extLst>
          </p:cNvPr>
          <p:cNvSpPr/>
          <p:nvPr/>
        </p:nvSpPr>
        <p:spPr>
          <a:xfrm>
            <a:off x="530352" y="4407408"/>
            <a:ext cx="3794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C9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Q10 · Q50 · Q90 — uncertainty-aware output</a:t>
            </a:r>
            <a:endParaRPr lang="en-US" sz="1200" dirty="0"/>
          </a:p>
        </p:txBody>
      </p:sp>
      <p:sp>
        <p:nvSpPr>
          <p:cNvPr id="24" name="Shape 26">
            <a:extLst>
              <a:ext uri="{FF2B5EF4-FFF2-40B4-BE49-F238E27FC236}">
                <a16:creationId xmlns:a16="http://schemas.microsoft.com/office/drawing/2014/main" id="{5B06432C-0EA1-EE38-26C6-827D9616FBCD}"/>
              </a:ext>
            </a:extLst>
          </p:cNvPr>
          <p:cNvSpPr/>
          <p:nvPr/>
        </p:nvSpPr>
        <p:spPr>
          <a:xfrm>
            <a:off x="4681728" y="1078992"/>
            <a:ext cx="420624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ADEEA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7">
            <a:extLst>
              <a:ext uri="{FF2B5EF4-FFF2-40B4-BE49-F238E27FC236}">
                <a16:creationId xmlns:a16="http://schemas.microsoft.com/office/drawing/2014/main" id="{2C5C9399-310F-CAE9-CA5D-B6001047380F}"/>
              </a:ext>
            </a:extLst>
          </p:cNvPr>
          <p:cNvSpPr/>
          <p:nvPr/>
        </p:nvSpPr>
        <p:spPr>
          <a:xfrm>
            <a:off x="4681728" y="1078992"/>
            <a:ext cx="4206240" cy="329184"/>
          </a:xfrm>
          <a:prstGeom prst="rect">
            <a:avLst/>
          </a:prstGeom>
          <a:solidFill>
            <a:srgbClr val="D4722A"/>
          </a:solidFill>
          <a:ln w="12700">
            <a:solidFill>
              <a:srgbClr val="D4722A"/>
            </a:solidFill>
            <a:prstDash val="solid"/>
          </a:ln>
        </p:spPr>
      </p:sp>
      <p:sp>
        <p:nvSpPr>
          <p:cNvPr id="26" name="Text 28">
            <a:extLst>
              <a:ext uri="{FF2B5EF4-FFF2-40B4-BE49-F238E27FC236}">
                <a16:creationId xmlns:a16="http://schemas.microsoft.com/office/drawing/2014/main" id="{BB455A4D-B70D-2D49-00A0-1CF704C25FB2}"/>
              </a:ext>
            </a:extLst>
          </p:cNvPr>
          <p:cNvSpPr/>
          <p:nvPr/>
        </p:nvSpPr>
        <p:spPr>
          <a:xfrm>
            <a:off x="4791456" y="1078992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GNN Spatial Encoder (GraphSAGE)</a:t>
            </a:r>
            <a:endParaRPr lang="en-US" sz="2000" dirty="0"/>
          </a:p>
        </p:txBody>
      </p:sp>
      <p:sp>
        <p:nvSpPr>
          <p:cNvPr id="27" name="Text 29">
            <a:extLst>
              <a:ext uri="{FF2B5EF4-FFF2-40B4-BE49-F238E27FC236}">
                <a16:creationId xmlns:a16="http://schemas.microsoft.com/office/drawing/2014/main" id="{4A0DFDCA-73AE-B02C-38B4-EBAA48316C01}"/>
              </a:ext>
            </a:extLst>
          </p:cNvPr>
          <p:cNvSpPr/>
          <p:nvPr/>
        </p:nvSpPr>
        <p:spPr>
          <a:xfrm>
            <a:off x="4828032" y="1463040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16 road segment nodes  ·  110 edges</a:t>
            </a:r>
            <a:endParaRPr lang="en-US" sz="1400" dirty="0"/>
          </a:p>
        </p:txBody>
      </p:sp>
      <p:sp>
        <p:nvSpPr>
          <p:cNvPr id="28" name="Text 30">
            <a:extLst>
              <a:ext uri="{FF2B5EF4-FFF2-40B4-BE49-F238E27FC236}">
                <a16:creationId xmlns:a16="http://schemas.microsoft.com/office/drawing/2014/main" id="{6C454323-7AA8-68E3-9C66-362E17B0DFE4}"/>
              </a:ext>
            </a:extLst>
          </p:cNvPr>
          <p:cNvSpPr/>
          <p:nvPr/>
        </p:nvSpPr>
        <p:spPr>
          <a:xfrm>
            <a:off x="4828032" y="1755648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K=4 nearest neighbours by haversine distance</a:t>
            </a:r>
            <a:endParaRPr lang="en-US" sz="1400" dirty="0"/>
          </a:p>
        </p:txBody>
      </p:sp>
      <p:sp>
        <p:nvSpPr>
          <p:cNvPr id="29" name="Text 31">
            <a:extLst>
              <a:ext uri="{FF2B5EF4-FFF2-40B4-BE49-F238E27FC236}">
                <a16:creationId xmlns:a16="http://schemas.microsoft.com/office/drawing/2014/main" id="{EEC3ADE1-2574-817C-1FCE-5BFE31C4FBB0}"/>
              </a:ext>
            </a:extLst>
          </p:cNvPr>
          <p:cNvSpPr/>
          <p:nvPr/>
        </p:nvSpPr>
        <p:spPr>
          <a:xfrm>
            <a:off x="4828032" y="2048256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2-layer GraphSAGE → 32-dim node embeddings</a:t>
            </a:r>
            <a:endParaRPr lang="en-US" sz="1400" dirty="0"/>
          </a:p>
        </p:txBody>
      </p:sp>
      <p:sp>
        <p:nvSpPr>
          <p:cNvPr id="30" name="Text 32">
            <a:extLst>
              <a:ext uri="{FF2B5EF4-FFF2-40B4-BE49-F238E27FC236}">
                <a16:creationId xmlns:a16="http://schemas.microsoft.com/office/drawing/2014/main" id="{C987B181-DDF6-452F-CAE2-86A70A3DF90C}"/>
              </a:ext>
            </a:extLst>
          </p:cNvPr>
          <p:cNvSpPr/>
          <p:nvPr/>
        </p:nvSpPr>
        <p:spPr>
          <a:xfrm>
            <a:off x="4828032" y="2340864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Embeddings injected as static covariates into TFT</a:t>
            </a:r>
            <a:endParaRPr lang="en-US" sz="1400" dirty="0"/>
          </a:p>
        </p:txBody>
      </p:sp>
      <p:sp>
        <p:nvSpPr>
          <p:cNvPr id="31" name="Shape 33">
            <a:extLst>
              <a:ext uri="{FF2B5EF4-FFF2-40B4-BE49-F238E27FC236}">
                <a16:creationId xmlns:a16="http://schemas.microsoft.com/office/drawing/2014/main" id="{25B20F9E-BF18-1D5F-8A35-0696C8B13AB7}"/>
              </a:ext>
            </a:extLst>
          </p:cNvPr>
          <p:cNvSpPr/>
          <p:nvPr/>
        </p:nvSpPr>
        <p:spPr>
          <a:xfrm>
            <a:off x="4681728" y="3035808"/>
            <a:ext cx="4206240" cy="1773936"/>
          </a:xfrm>
          <a:prstGeom prst="rect">
            <a:avLst/>
          </a:prstGeom>
          <a:solidFill>
            <a:srgbClr val="FFFFFF"/>
          </a:solidFill>
          <a:ln w="6350">
            <a:solidFill>
              <a:srgbClr val="DADEEA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Shape 34">
            <a:extLst>
              <a:ext uri="{FF2B5EF4-FFF2-40B4-BE49-F238E27FC236}">
                <a16:creationId xmlns:a16="http://schemas.microsoft.com/office/drawing/2014/main" id="{F2368029-1B6D-4B18-BB60-A25CF3B2ACA6}"/>
              </a:ext>
            </a:extLst>
          </p:cNvPr>
          <p:cNvSpPr/>
          <p:nvPr/>
        </p:nvSpPr>
        <p:spPr>
          <a:xfrm>
            <a:off x="4681728" y="3035808"/>
            <a:ext cx="4206240" cy="329184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3" name="Text 35">
            <a:extLst>
              <a:ext uri="{FF2B5EF4-FFF2-40B4-BE49-F238E27FC236}">
                <a16:creationId xmlns:a16="http://schemas.microsoft.com/office/drawing/2014/main" id="{ECC88EBF-2CDF-A826-06F5-61CB584EC7A1}"/>
              </a:ext>
            </a:extLst>
          </p:cNvPr>
          <p:cNvSpPr/>
          <p:nvPr/>
        </p:nvSpPr>
        <p:spPr>
          <a:xfrm>
            <a:off x="4791456" y="303580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Feature Categorisation</a:t>
            </a:r>
            <a:endParaRPr lang="en-US" sz="2000" dirty="0"/>
          </a:p>
        </p:txBody>
      </p:sp>
      <p:sp>
        <p:nvSpPr>
          <p:cNvPr id="34" name="Text 36">
            <a:extLst>
              <a:ext uri="{FF2B5EF4-FFF2-40B4-BE49-F238E27FC236}">
                <a16:creationId xmlns:a16="http://schemas.microsoft.com/office/drawing/2014/main" id="{B0C8221F-41DF-2C7D-2FD4-CB44A82A6CB6}"/>
              </a:ext>
            </a:extLst>
          </p:cNvPr>
          <p:cNvSpPr/>
          <p:nvPr/>
        </p:nvSpPr>
        <p:spPr>
          <a:xfrm>
            <a:off x="4828032" y="341985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covariates:</a:t>
            </a:r>
            <a:endParaRPr lang="en-US" sz="1200" dirty="0"/>
          </a:p>
        </p:txBody>
      </p:sp>
      <p:sp>
        <p:nvSpPr>
          <p:cNvPr id="35" name="Text 37">
            <a:extLst>
              <a:ext uri="{FF2B5EF4-FFF2-40B4-BE49-F238E27FC236}">
                <a16:creationId xmlns:a16="http://schemas.microsoft.com/office/drawing/2014/main" id="{5ECCFD3D-626D-696B-066C-015CF43F6353}"/>
              </a:ext>
            </a:extLst>
          </p:cNvPr>
          <p:cNvSpPr/>
          <p:nvPr/>
        </p:nvSpPr>
        <p:spPr>
          <a:xfrm>
            <a:off x="6473952" y="341985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Lat, Lon, GNN embeddings (34 cols)</a:t>
            </a:r>
            <a:endParaRPr lang="en-US" sz="1200" dirty="0"/>
          </a:p>
        </p:txBody>
      </p:sp>
      <p:sp>
        <p:nvSpPr>
          <p:cNvPr id="36" name="Text 38">
            <a:extLst>
              <a:ext uri="{FF2B5EF4-FFF2-40B4-BE49-F238E27FC236}">
                <a16:creationId xmlns:a16="http://schemas.microsoft.com/office/drawing/2014/main" id="{74F16B8E-BDF7-262A-6B3D-A0620B6C2522}"/>
              </a:ext>
            </a:extLst>
          </p:cNvPr>
          <p:cNvSpPr/>
          <p:nvPr/>
        </p:nvSpPr>
        <p:spPr>
          <a:xfrm>
            <a:off x="4828032" y="373989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future inputs:</a:t>
            </a:r>
            <a:endParaRPr lang="en-US" sz="1200" dirty="0"/>
          </a:p>
        </p:txBody>
      </p:sp>
      <p:sp>
        <p:nvSpPr>
          <p:cNvPr id="37" name="Text 39">
            <a:extLst>
              <a:ext uri="{FF2B5EF4-FFF2-40B4-BE49-F238E27FC236}">
                <a16:creationId xmlns:a16="http://schemas.microsoft.com/office/drawing/2014/main" id="{E57C485A-4C52-240B-29D0-065CAB786092}"/>
              </a:ext>
            </a:extLst>
          </p:cNvPr>
          <p:cNvSpPr/>
          <p:nvPr/>
        </p:nvSpPr>
        <p:spPr>
          <a:xfrm>
            <a:off x="6473952" y="373989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Hour, weekend, festival flags (10 cols)</a:t>
            </a:r>
            <a:endParaRPr lang="en-US" sz="1200" dirty="0"/>
          </a:p>
        </p:txBody>
      </p:sp>
      <p:sp>
        <p:nvSpPr>
          <p:cNvPr id="38" name="Text 40">
            <a:extLst>
              <a:ext uri="{FF2B5EF4-FFF2-40B4-BE49-F238E27FC236}">
                <a16:creationId xmlns:a16="http://schemas.microsoft.com/office/drawing/2014/main" id="{06ADFC61-DC95-AD95-55D0-E1D632A0A13B}"/>
              </a:ext>
            </a:extLst>
          </p:cNvPr>
          <p:cNvSpPr/>
          <p:nvPr/>
        </p:nvSpPr>
        <p:spPr>
          <a:xfrm>
            <a:off x="4828032" y="405993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 past inputs:</a:t>
            </a:r>
            <a:endParaRPr lang="en-US" sz="1200" dirty="0"/>
          </a:p>
        </p:txBody>
      </p:sp>
      <p:sp>
        <p:nvSpPr>
          <p:cNvPr id="39" name="Text 41">
            <a:extLst>
              <a:ext uri="{FF2B5EF4-FFF2-40B4-BE49-F238E27FC236}">
                <a16:creationId xmlns:a16="http://schemas.microsoft.com/office/drawing/2014/main" id="{79D7C441-66A8-69EC-BDF0-CA60166363B9}"/>
              </a:ext>
            </a:extLst>
          </p:cNvPr>
          <p:cNvSpPr/>
          <p:nvPr/>
        </p:nvSpPr>
        <p:spPr>
          <a:xfrm>
            <a:off x="6473952" y="405993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Speed, congestion, PM2.5, flood (17 cols)</a:t>
            </a:r>
            <a:endParaRPr lang="en-US" sz="1200" dirty="0"/>
          </a:p>
        </p:txBody>
      </p:sp>
      <p:sp>
        <p:nvSpPr>
          <p:cNvPr id="40" name="Text 42">
            <a:extLst>
              <a:ext uri="{FF2B5EF4-FFF2-40B4-BE49-F238E27FC236}">
                <a16:creationId xmlns:a16="http://schemas.microsoft.com/office/drawing/2014/main" id="{9D3B15DE-DD45-81FB-9BBA-3948FDA5EDEB}"/>
              </a:ext>
            </a:extLst>
          </p:cNvPr>
          <p:cNvSpPr/>
          <p:nvPr/>
        </p:nvSpPr>
        <p:spPr>
          <a:xfrm>
            <a:off x="4828032" y="437997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 (dual):</a:t>
            </a:r>
            <a:endParaRPr lang="en-US" sz="1200" dirty="0"/>
          </a:p>
        </p:txBody>
      </p:sp>
      <p:sp>
        <p:nvSpPr>
          <p:cNvPr id="41" name="Text 43">
            <a:extLst>
              <a:ext uri="{FF2B5EF4-FFF2-40B4-BE49-F238E27FC236}">
                <a16:creationId xmlns:a16="http://schemas.microsoft.com/office/drawing/2014/main" id="{1EC74785-412A-96F0-5754-81416B9BDDFC}"/>
              </a:ext>
            </a:extLst>
          </p:cNvPr>
          <p:cNvSpPr/>
          <p:nvPr/>
        </p:nvSpPr>
        <p:spPr>
          <a:xfrm>
            <a:off x="6473952" y="437997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Speed  ·  Congestion Level</a:t>
            </a:r>
            <a:endParaRPr lang="en-US" sz="1200" dirty="0"/>
          </a:p>
        </p:txBody>
      </p:sp>
      <p:sp>
        <p:nvSpPr>
          <p:cNvPr id="42" name="Shape 0">
            <a:extLst>
              <a:ext uri="{FF2B5EF4-FFF2-40B4-BE49-F238E27FC236}">
                <a16:creationId xmlns:a16="http://schemas.microsoft.com/office/drawing/2014/main" id="{B9DEC939-583E-097C-D3E8-2820DD270048}"/>
              </a:ext>
            </a:extLst>
          </p:cNvPr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43" name="Shape 1">
            <a:extLst>
              <a:ext uri="{FF2B5EF4-FFF2-40B4-BE49-F238E27FC236}">
                <a16:creationId xmlns:a16="http://schemas.microsoft.com/office/drawing/2014/main" id="{CC975F83-9F19-78E7-C7B3-AF2A30801522}"/>
              </a:ext>
            </a:extLst>
          </p:cNvPr>
          <p:cNvSpPr/>
          <p:nvPr/>
        </p:nvSpPr>
        <p:spPr>
          <a:xfrm>
            <a:off x="0" y="0"/>
            <a:ext cx="201168" cy="960120"/>
          </a:xfrm>
          <a:prstGeom prst="rect">
            <a:avLst/>
          </a:prstGeom>
          <a:solidFill>
            <a:srgbClr val="D4722A"/>
          </a:solidFill>
          <a:ln w="12700">
            <a:solidFill>
              <a:srgbClr val="D4722A"/>
            </a:solidFill>
            <a:prstDash val="solid"/>
          </a:ln>
        </p:spPr>
      </p:sp>
      <p:sp>
        <p:nvSpPr>
          <p:cNvPr id="44" name="Text 2">
            <a:extLst>
              <a:ext uri="{FF2B5EF4-FFF2-40B4-BE49-F238E27FC236}">
                <a16:creationId xmlns:a16="http://schemas.microsoft.com/office/drawing/2014/main" id="{49BF75A7-8835-ADC7-0C9C-2BBA8283C2D7}"/>
              </a:ext>
            </a:extLst>
          </p:cNvPr>
          <p:cNvSpPr/>
          <p:nvPr/>
        </p:nvSpPr>
        <p:spPr>
          <a:xfrm>
            <a:off x="347472" y="0"/>
            <a:ext cx="7132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2: TFT + GNN Model Architecture</a:t>
            </a:r>
            <a:endParaRPr lang="en-US" sz="2400" dirty="0"/>
          </a:p>
        </p:txBody>
      </p:sp>
      <p:sp>
        <p:nvSpPr>
          <p:cNvPr id="45" name="Text 3">
            <a:extLst>
              <a:ext uri="{FF2B5EF4-FFF2-40B4-BE49-F238E27FC236}">
                <a16:creationId xmlns:a16="http://schemas.microsoft.com/office/drawing/2014/main" id="{C4C4A755-48EA-DBE6-895F-0A00A4CF640B}"/>
              </a:ext>
            </a:extLst>
          </p:cNvPr>
          <p:cNvSpPr/>
          <p:nvPr/>
        </p:nvSpPr>
        <p:spPr>
          <a:xfrm>
            <a:off x="7498080" y="0"/>
            <a:ext cx="1554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8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10 /23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5000682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1F12F39-8AA0-7F44-DA84-5FE1BE60B62B}"/>
              </a:ext>
            </a:extLst>
          </p:cNvPr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B4E5C30E-08FA-1F50-9CE9-4EFDAC780E68}"/>
              </a:ext>
            </a:extLst>
          </p:cNvPr>
          <p:cNvSpPr/>
          <p:nvPr/>
        </p:nvSpPr>
        <p:spPr>
          <a:xfrm>
            <a:off x="0" y="0"/>
            <a:ext cx="201168" cy="960120"/>
          </a:xfrm>
          <a:prstGeom prst="rect">
            <a:avLst/>
          </a:prstGeom>
          <a:solidFill>
            <a:srgbClr val="D4722A"/>
          </a:solidFill>
          <a:ln w="12700">
            <a:solidFill>
              <a:srgbClr val="D4722A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0741050-0630-2094-1894-5BFCE6797DD8}"/>
              </a:ext>
            </a:extLst>
          </p:cNvPr>
          <p:cNvSpPr/>
          <p:nvPr/>
        </p:nvSpPr>
        <p:spPr>
          <a:xfrm>
            <a:off x="347472" y="0"/>
            <a:ext cx="7132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2: Training Results &amp; Convergence</a:t>
            </a:r>
            <a:endParaRPr lang="en-US" sz="2400" dirty="0"/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2926AEB0-991D-4A95-C9E4-8DE288D9008F}"/>
              </a:ext>
            </a:extLst>
          </p:cNvPr>
          <p:cNvSpPr/>
          <p:nvPr/>
        </p:nvSpPr>
        <p:spPr>
          <a:xfrm>
            <a:off x="256032" y="1078992"/>
            <a:ext cx="8631936" cy="329184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Text 6">
            <a:extLst>
              <a:ext uri="{FF2B5EF4-FFF2-40B4-BE49-F238E27FC236}">
                <a16:creationId xmlns:a16="http://schemas.microsoft.com/office/drawing/2014/main" id="{2F128853-947F-996E-1950-B58FC6309BF9}"/>
              </a:ext>
            </a:extLst>
          </p:cNvPr>
          <p:cNvSpPr/>
          <p:nvPr/>
        </p:nvSpPr>
        <p:spPr>
          <a:xfrm>
            <a:off x="365760" y="1078992"/>
            <a:ext cx="8449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Configuration</a:t>
            </a:r>
            <a:endParaRPr lang="en-US" dirty="0"/>
          </a:p>
        </p:txBody>
      </p:sp>
      <p:sp>
        <p:nvSpPr>
          <p:cNvPr id="7" name="Text 7">
            <a:extLst>
              <a:ext uri="{FF2B5EF4-FFF2-40B4-BE49-F238E27FC236}">
                <a16:creationId xmlns:a16="http://schemas.microsoft.com/office/drawing/2014/main" id="{591C009F-0784-8667-BCE7-CB85E87751DA}"/>
              </a:ext>
            </a:extLst>
          </p:cNvPr>
          <p:cNvSpPr/>
          <p:nvPr/>
        </p:nvSpPr>
        <p:spPr>
          <a:xfrm>
            <a:off x="384048" y="1464854"/>
            <a:ext cx="10972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</a:t>
            </a:r>
            <a:endParaRPr lang="en-US" sz="1400" dirty="0"/>
          </a:p>
        </p:txBody>
      </p:sp>
      <p:sp>
        <p:nvSpPr>
          <p:cNvPr id="8" name="Text 8">
            <a:extLst>
              <a:ext uri="{FF2B5EF4-FFF2-40B4-BE49-F238E27FC236}">
                <a16:creationId xmlns:a16="http://schemas.microsoft.com/office/drawing/2014/main" id="{CE93ED56-2F7D-8C66-9B3D-A428E8CF6E4D}"/>
              </a:ext>
            </a:extLst>
          </p:cNvPr>
          <p:cNvSpPr/>
          <p:nvPr/>
        </p:nvSpPr>
        <p:spPr>
          <a:xfrm>
            <a:off x="1481328" y="1464854"/>
            <a:ext cx="7315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1,029,600 rows × 39 cols  →  871,528 train / 157,528 validation windows</a:t>
            </a:r>
            <a:endParaRPr lang="en-US" sz="1400" dirty="0"/>
          </a:p>
        </p:txBody>
      </p:sp>
      <p:sp>
        <p:nvSpPr>
          <p:cNvPr id="9" name="Text 9">
            <a:extLst>
              <a:ext uri="{FF2B5EF4-FFF2-40B4-BE49-F238E27FC236}">
                <a16:creationId xmlns:a16="http://schemas.microsoft.com/office/drawing/2014/main" id="{B5884C26-0991-9F77-B05F-16C144F2767A}"/>
              </a:ext>
            </a:extLst>
          </p:cNvPr>
          <p:cNvSpPr/>
          <p:nvPr/>
        </p:nvSpPr>
        <p:spPr>
          <a:xfrm>
            <a:off x="384048" y="1730760"/>
            <a:ext cx="10972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Architecture:</a:t>
            </a:r>
            <a:endParaRPr lang="en-US" sz="1400" dirty="0"/>
          </a:p>
        </p:txBody>
      </p:sp>
      <p:sp>
        <p:nvSpPr>
          <p:cNvPr id="10" name="Text 10">
            <a:extLst>
              <a:ext uri="{FF2B5EF4-FFF2-40B4-BE49-F238E27FC236}">
                <a16:creationId xmlns:a16="http://schemas.microsoft.com/office/drawing/2014/main" id="{8D524CBA-B4CF-B231-CD9A-EB2C8265BDB9}"/>
              </a:ext>
            </a:extLst>
          </p:cNvPr>
          <p:cNvSpPr/>
          <p:nvPr/>
        </p:nvSpPr>
        <p:spPr>
          <a:xfrm>
            <a:off x="1481328" y="1730760"/>
            <a:ext cx="7315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encoder (12 steps) + decoder (6 steps)  ·  AMP float16  ·  RTX 4000 Ada 20GB</a:t>
            </a:r>
            <a:endParaRPr lang="en-US" sz="1400" dirty="0"/>
          </a:p>
        </p:txBody>
      </p:sp>
      <p:sp>
        <p:nvSpPr>
          <p:cNvPr id="11" name="Text 11">
            <a:extLst>
              <a:ext uri="{FF2B5EF4-FFF2-40B4-BE49-F238E27FC236}">
                <a16:creationId xmlns:a16="http://schemas.microsoft.com/office/drawing/2014/main" id="{D66A1D4C-0DFE-35DD-8478-B7F8E339B71B}"/>
              </a:ext>
            </a:extLst>
          </p:cNvPr>
          <p:cNvSpPr/>
          <p:nvPr/>
        </p:nvSpPr>
        <p:spPr>
          <a:xfrm>
            <a:off x="365760" y="1996666"/>
            <a:ext cx="10972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Optimiser:</a:t>
            </a:r>
            <a:endParaRPr lang="en-US" sz="1400" dirty="0"/>
          </a:p>
        </p:txBody>
      </p:sp>
      <p:sp>
        <p:nvSpPr>
          <p:cNvPr id="12" name="Text 12">
            <a:extLst>
              <a:ext uri="{FF2B5EF4-FFF2-40B4-BE49-F238E27FC236}">
                <a16:creationId xmlns:a16="http://schemas.microsoft.com/office/drawing/2014/main" id="{8970117D-82B3-EBAE-EAF4-C3EB30F74C5E}"/>
              </a:ext>
            </a:extLst>
          </p:cNvPr>
          <p:cNvSpPr/>
          <p:nvPr/>
        </p:nvSpPr>
        <p:spPr>
          <a:xfrm>
            <a:off x="1463040" y="1996666"/>
            <a:ext cx="7315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 lr=1e-3  ·  ReduceLROnPlateau patience=2  ·  gradient clip val=0.1</a:t>
            </a:r>
            <a:endParaRPr lang="en-US" sz="1400" dirty="0"/>
          </a:p>
        </p:txBody>
      </p:sp>
      <p:sp>
        <p:nvSpPr>
          <p:cNvPr id="13" name="Text 13">
            <a:extLst>
              <a:ext uri="{FF2B5EF4-FFF2-40B4-BE49-F238E27FC236}">
                <a16:creationId xmlns:a16="http://schemas.microsoft.com/office/drawing/2014/main" id="{17673E27-40BF-569E-D6B2-1C5277800A56}"/>
              </a:ext>
            </a:extLst>
          </p:cNvPr>
          <p:cNvSpPr/>
          <p:nvPr/>
        </p:nvSpPr>
        <p:spPr>
          <a:xfrm>
            <a:off x="384048" y="2251388"/>
            <a:ext cx="10972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fn:</a:t>
            </a:r>
            <a:endParaRPr lang="en-US" sz="1400" dirty="0"/>
          </a:p>
        </p:txBody>
      </p:sp>
      <p:sp>
        <p:nvSpPr>
          <p:cNvPr id="14" name="Text 14">
            <a:extLst>
              <a:ext uri="{FF2B5EF4-FFF2-40B4-BE49-F238E27FC236}">
                <a16:creationId xmlns:a16="http://schemas.microsoft.com/office/drawing/2014/main" id="{B36A2B84-CA09-3EE7-CD67-46EEFE7DF84E}"/>
              </a:ext>
            </a:extLst>
          </p:cNvPr>
          <p:cNvSpPr/>
          <p:nvPr/>
        </p:nvSpPr>
        <p:spPr>
          <a:xfrm>
            <a:off x="1481328" y="2251388"/>
            <a:ext cx="7315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Quantile (pinball) loss on Q10, Q50, Q90 simultaneously  ·  early stop patience=5</a:t>
            </a:r>
            <a:endParaRPr lang="en-US" sz="1400" dirty="0"/>
          </a:p>
        </p:txBody>
      </p:sp>
      <p:sp>
        <p:nvSpPr>
          <p:cNvPr id="16" name="Text 17">
            <a:extLst>
              <a:ext uri="{FF2B5EF4-FFF2-40B4-BE49-F238E27FC236}">
                <a16:creationId xmlns:a16="http://schemas.microsoft.com/office/drawing/2014/main" id="{AB62A468-CA04-0BE5-0A0C-3D65FDA6366A}"/>
              </a:ext>
            </a:extLst>
          </p:cNvPr>
          <p:cNvSpPr/>
          <p:nvPr/>
        </p:nvSpPr>
        <p:spPr>
          <a:xfrm>
            <a:off x="6099048" y="2331720"/>
            <a:ext cx="2715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Outcomes</a:t>
            </a:r>
            <a:endParaRPr lang="en-US" sz="1200" dirty="0"/>
          </a:p>
        </p:txBody>
      </p:sp>
      <p:sp>
        <p:nvSpPr>
          <p:cNvPr id="17" name="Shape 18">
            <a:extLst>
              <a:ext uri="{FF2B5EF4-FFF2-40B4-BE49-F238E27FC236}">
                <a16:creationId xmlns:a16="http://schemas.microsoft.com/office/drawing/2014/main" id="{A59AB6FE-724F-0B2F-894E-84C992C331EF}"/>
              </a:ext>
            </a:extLst>
          </p:cNvPr>
          <p:cNvSpPr/>
          <p:nvPr/>
        </p:nvSpPr>
        <p:spPr>
          <a:xfrm>
            <a:off x="6108192" y="2697480"/>
            <a:ext cx="2670048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ADEEA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Text 19">
            <a:extLst>
              <a:ext uri="{FF2B5EF4-FFF2-40B4-BE49-F238E27FC236}">
                <a16:creationId xmlns:a16="http://schemas.microsoft.com/office/drawing/2014/main" id="{4D36266B-1D67-FCC1-2DDF-24E5D6E3BA16}"/>
              </a:ext>
            </a:extLst>
          </p:cNvPr>
          <p:cNvSpPr/>
          <p:nvPr/>
        </p:nvSpPr>
        <p:spPr>
          <a:xfrm>
            <a:off x="6217920" y="272491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C9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val loss</a:t>
            </a:r>
            <a:endParaRPr lang="en-US" sz="850" dirty="0"/>
          </a:p>
        </p:txBody>
      </p:sp>
      <p:sp>
        <p:nvSpPr>
          <p:cNvPr id="19" name="Text 20">
            <a:extLst>
              <a:ext uri="{FF2B5EF4-FFF2-40B4-BE49-F238E27FC236}">
                <a16:creationId xmlns:a16="http://schemas.microsoft.com/office/drawing/2014/main" id="{6B067EAE-60FB-C57C-D52C-F98206EE249F}"/>
              </a:ext>
            </a:extLst>
          </p:cNvPr>
          <p:cNvSpPr/>
          <p:nvPr/>
        </p:nvSpPr>
        <p:spPr>
          <a:xfrm>
            <a:off x="6217920" y="287121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0.0033</a:t>
            </a:r>
            <a:endParaRPr lang="en-US" sz="1300" dirty="0"/>
          </a:p>
        </p:txBody>
      </p:sp>
      <p:sp>
        <p:nvSpPr>
          <p:cNvPr id="20" name="Text 21">
            <a:extLst>
              <a:ext uri="{FF2B5EF4-FFF2-40B4-BE49-F238E27FC236}">
                <a16:creationId xmlns:a16="http://schemas.microsoft.com/office/drawing/2014/main" id="{FB85C380-AACD-0222-F253-D4922A56D624}"/>
              </a:ext>
            </a:extLst>
          </p:cNvPr>
          <p:cNvSpPr/>
          <p:nvPr/>
        </p:nvSpPr>
        <p:spPr>
          <a:xfrm>
            <a:off x="7315200" y="281635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D47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 32</a:t>
            </a:r>
            <a:endParaRPr lang="en-US" sz="850" dirty="0"/>
          </a:p>
        </p:txBody>
      </p:sp>
      <p:sp>
        <p:nvSpPr>
          <p:cNvPr id="21" name="Shape 22">
            <a:extLst>
              <a:ext uri="{FF2B5EF4-FFF2-40B4-BE49-F238E27FC236}">
                <a16:creationId xmlns:a16="http://schemas.microsoft.com/office/drawing/2014/main" id="{68BBD7F8-6224-26FB-152F-3833397807EC}"/>
              </a:ext>
            </a:extLst>
          </p:cNvPr>
          <p:cNvSpPr/>
          <p:nvPr/>
        </p:nvSpPr>
        <p:spPr>
          <a:xfrm>
            <a:off x="6108192" y="3118104"/>
            <a:ext cx="2670048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ADEEA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Text 23">
            <a:extLst>
              <a:ext uri="{FF2B5EF4-FFF2-40B4-BE49-F238E27FC236}">
                <a16:creationId xmlns:a16="http://schemas.microsoft.com/office/drawing/2014/main" id="{AD0EB251-7C21-931E-4741-28B7812B0A7C}"/>
              </a:ext>
            </a:extLst>
          </p:cNvPr>
          <p:cNvSpPr/>
          <p:nvPr/>
        </p:nvSpPr>
        <p:spPr>
          <a:xfrm>
            <a:off x="6217920" y="3145536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C9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(speed)</a:t>
            </a:r>
            <a:endParaRPr lang="en-US" sz="850" dirty="0"/>
          </a:p>
        </p:txBody>
      </p:sp>
      <p:sp>
        <p:nvSpPr>
          <p:cNvPr id="23" name="Text 24">
            <a:extLst>
              <a:ext uri="{FF2B5EF4-FFF2-40B4-BE49-F238E27FC236}">
                <a16:creationId xmlns:a16="http://schemas.microsoft.com/office/drawing/2014/main" id="{49D89F72-8189-4D2A-537B-F4A5A6553F60}"/>
              </a:ext>
            </a:extLst>
          </p:cNvPr>
          <p:cNvSpPr/>
          <p:nvPr/>
        </p:nvSpPr>
        <p:spPr>
          <a:xfrm>
            <a:off x="6217920" y="329184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0.9877</a:t>
            </a:r>
            <a:endParaRPr lang="en-US" sz="1300" dirty="0"/>
          </a:p>
        </p:txBody>
      </p:sp>
      <p:sp>
        <p:nvSpPr>
          <p:cNvPr id="24" name="Text 25">
            <a:extLst>
              <a:ext uri="{FF2B5EF4-FFF2-40B4-BE49-F238E27FC236}">
                <a16:creationId xmlns:a16="http://schemas.microsoft.com/office/drawing/2014/main" id="{8149F145-125F-93C5-4AAA-6A244A50E785}"/>
              </a:ext>
            </a:extLst>
          </p:cNvPr>
          <p:cNvSpPr/>
          <p:nvPr/>
        </p:nvSpPr>
        <p:spPr>
          <a:xfrm>
            <a:off x="7315200" y="323697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D47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 fit</a:t>
            </a:r>
            <a:endParaRPr lang="en-US" sz="850" dirty="0"/>
          </a:p>
        </p:txBody>
      </p:sp>
      <p:sp>
        <p:nvSpPr>
          <p:cNvPr id="25" name="Shape 26">
            <a:extLst>
              <a:ext uri="{FF2B5EF4-FFF2-40B4-BE49-F238E27FC236}">
                <a16:creationId xmlns:a16="http://schemas.microsoft.com/office/drawing/2014/main" id="{88165BA3-103E-DE47-F73D-AC69EF8FFDFF}"/>
              </a:ext>
            </a:extLst>
          </p:cNvPr>
          <p:cNvSpPr/>
          <p:nvPr/>
        </p:nvSpPr>
        <p:spPr>
          <a:xfrm>
            <a:off x="6108192" y="3538728"/>
            <a:ext cx="2670048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ADEEA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Text 27">
            <a:extLst>
              <a:ext uri="{FF2B5EF4-FFF2-40B4-BE49-F238E27FC236}">
                <a16:creationId xmlns:a16="http://schemas.microsoft.com/office/drawing/2014/main" id="{119007D2-3D2F-8041-CD04-1D4462986BE8}"/>
              </a:ext>
            </a:extLst>
          </p:cNvPr>
          <p:cNvSpPr/>
          <p:nvPr/>
        </p:nvSpPr>
        <p:spPr>
          <a:xfrm>
            <a:off x="6217920" y="356616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C9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CRPS</a:t>
            </a:r>
            <a:endParaRPr lang="en-US" sz="850" dirty="0"/>
          </a:p>
        </p:txBody>
      </p:sp>
      <p:sp>
        <p:nvSpPr>
          <p:cNvPr id="27" name="Text 28">
            <a:extLst>
              <a:ext uri="{FF2B5EF4-FFF2-40B4-BE49-F238E27FC236}">
                <a16:creationId xmlns:a16="http://schemas.microsoft.com/office/drawing/2014/main" id="{030EB235-CD51-2DD2-6E3F-FED439BE4A30}"/>
              </a:ext>
            </a:extLst>
          </p:cNvPr>
          <p:cNvSpPr/>
          <p:nvPr/>
        </p:nvSpPr>
        <p:spPr>
          <a:xfrm>
            <a:off x="6217920" y="371246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0.0104</a:t>
            </a:r>
            <a:endParaRPr lang="en-US" sz="1300" dirty="0"/>
          </a:p>
        </p:txBody>
      </p:sp>
      <p:sp>
        <p:nvSpPr>
          <p:cNvPr id="28" name="Text 29">
            <a:extLst>
              <a:ext uri="{FF2B5EF4-FFF2-40B4-BE49-F238E27FC236}">
                <a16:creationId xmlns:a16="http://schemas.microsoft.com/office/drawing/2014/main" id="{E2799F9E-73F7-0051-7301-DAF2B2D85EA2}"/>
              </a:ext>
            </a:extLst>
          </p:cNvPr>
          <p:cNvSpPr/>
          <p:nvPr/>
        </p:nvSpPr>
        <p:spPr>
          <a:xfrm>
            <a:off x="7315200" y="365760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D47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 distribution</a:t>
            </a:r>
            <a:endParaRPr lang="en-US" sz="850" dirty="0"/>
          </a:p>
        </p:txBody>
      </p:sp>
      <p:sp>
        <p:nvSpPr>
          <p:cNvPr id="29" name="Shape 30">
            <a:extLst>
              <a:ext uri="{FF2B5EF4-FFF2-40B4-BE49-F238E27FC236}">
                <a16:creationId xmlns:a16="http://schemas.microsoft.com/office/drawing/2014/main" id="{8BEF3882-3FDA-12EB-251F-F9ED38187799}"/>
              </a:ext>
            </a:extLst>
          </p:cNvPr>
          <p:cNvSpPr/>
          <p:nvPr/>
        </p:nvSpPr>
        <p:spPr>
          <a:xfrm>
            <a:off x="6108192" y="3959352"/>
            <a:ext cx="2670048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ADEEA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Text 31">
            <a:extLst>
              <a:ext uri="{FF2B5EF4-FFF2-40B4-BE49-F238E27FC236}">
                <a16:creationId xmlns:a16="http://schemas.microsoft.com/office/drawing/2014/main" id="{B79D9ADC-FF1C-B6DF-B2F4-DAC0E2BE978F}"/>
              </a:ext>
            </a:extLst>
          </p:cNvPr>
          <p:cNvSpPr/>
          <p:nvPr/>
        </p:nvSpPr>
        <p:spPr>
          <a:xfrm>
            <a:off x="6217920" y="398678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C9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time</a:t>
            </a:r>
            <a:endParaRPr lang="en-US" sz="850" dirty="0"/>
          </a:p>
        </p:txBody>
      </p:sp>
      <p:sp>
        <p:nvSpPr>
          <p:cNvPr id="31" name="Text 32">
            <a:extLst>
              <a:ext uri="{FF2B5EF4-FFF2-40B4-BE49-F238E27FC236}">
                <a16:creationId xmlns:a16="http://schemas.microsoft.com/office/drawing/2014/main" id="{CAD676F8-3716-A2F9-DE72-CB2FBAEF79C7}"/>
              </a:ext>
            </a:extLst>
          </p:cNvPr>
          <p:cNvSpPr/>
          <p:nvPr/>
        </p:nvSpPr>
        <p:spPr>
          <a:xfrm>
            <a:off x="6217920" y="413308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~4.5 hrs</a:t>
            </a:r>
            <a:endParaRPr lang="en-US" sz="1300" dirty="0"/>
          </a:p>
        </p:txBody>
      </p:sp>
      <p:sp>
        <p:nvSpPr>
          <p:cNvPr id="32" name="Text 33">
            <a:extLst>
              <a:ext uri="{FF2B5EF4-FFF2-40B4-BE49-F238E27FC236}">
                <a16:creationId xmlns:a16="http://schemas.microsoft.com/office/drawing/2014/main" id="{6943C948-C433-EC2B-F853-C5C3CBF2CA55}"/>
              </a:ext>
            </a:extLst>
          </p:cNvPr>
          <p:cNvSpPr/>
          <p:nvPr/>
        </p:nvSpPr>
        <p:spPr>
          <a:xfrm>
            <a:off x="7315200" y="407822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D47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RTX 4000 Ada</a:t>
            </a:r>
            <a:endParaRPr lang="en-US" sz="850" dirty="0"/>
          </a:p>
        </p:txBody>
      </p:sp>
      <p:sp>
        <p:nvSpPr>
          <p:cNvPr id="33" name="Shape 34">
            <a:extLst>
              <a:ext uri="{FF2B5EF4-FFF2-40B4-BE49-F238E27FC236}">
                <a16:creationId xmlns:a16="http://schemas.microsoft.com/office/drawing/2014/main" id="{0BAAD819-AE1F-A164-AF24-67427D103F27}"/>
              </a:ext>
            </a:extLst>
          </p:cNvPr>
          <p:cNvSpPr/>
          <p:nvPr/>
        </p:nvSpPr>
        <p:spPr>
          <a:xfrm>
            <a:off x="6108192" y="4379976"/>
            <a:ext cx="2670048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ADEEA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4" name="Text 35">
            <a:extLst>
              <a:ext uri="{FF2B5EF4-FFF2-40B4-BE49-F238E27FC236}">
                <a16:creationId xmlns:a16="http://schemas.microsoft.com/office/drawing/2014/main" id="{2C668BC4-4F1A-9F6F-612E-AAD39FCD54A3}"/>
              </a:ext>
            </a:extLst>
          </p:cNvPr>
          <p:cNvSpPr/>
          <p:nvPr/>
        </p:nvSpPr>
        <p:spPr>
          <a:xfrm>
            <a:off x="6217920" y="440740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C9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 speedup</a:t>
            </a:r>
            <a:endParaRPr lang="en-US" sz="850" dirty="0"/>
          </a:p>
        </p:txBody>
      </p:sp>
      <p:sp>
        <p:nvSpPr>
          <p:cNvPr id="35" name="Text 36">
            <a:extLst>
              <a:ext uri="{FF2B5EF4-FFF2-40B4-BE49-F238E27FC236}">
                <a16:creationId xmlns:a16="http://schemas.microsoft.com/office/drawing/2014/main" id="{961A678F-CC40-3511-48A2-790422B88EF5}"/>
              </a:ext>
            </a:extLst>
          </p:cNvPr>
          <p:cNvSpPr/>
          <p:nvPr/>
        </p:nvSpPr>
        <p:spPr>
          <a:xfrm>
            <a:off x="6217920" y="455371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~2×</a:t>
            </a:r>
            <a:endParaRPr lang="en-US" sz="1300" dirty="0"/>
          </a:p>
        </p:txBody>
      </p:sp>
      <p:sp>
        <p:nvSpPr>
          <p:cNvPr id="36" name="Text 37">
            <a:extLst>
              <a:ext uri="{FF2B5EF4-FFF2-40B4-BE49-F238E27FC236}">
                <a16:creationId xmlns:a16="http://schemas.microsoft.com/office/drawing/2014/main" id="{1946E155-A547-9F1D-599C-0041FA992542}"/>
              </a:ext>
            </a:extLst>
          </p:cNvPr>
          <p:cNvSpPr/>
          <p:nvPr/>
        </p:nvSpPr>
        <p:spPr>
          <a:xfrm>
            <a:off x="7315200" y="449884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D47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float16 mixed prec.</a:t>
            </a:r>
            <a:endParaRPr lang="en-US" sz="850" dirty="0"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12A0DC7B-B786-C38B-9A6D-348313A012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" y="2660332"/>
            <a:ext cx="5943600" cy="2177415"/>
          </a:xfrm>
          <a:prstGeom prst="rect">
            <a:avLst/>
          </a:prstGeom>
        </p:spPr>
      </p:pic>
      <p:sp>
        <p:nvSpPr>
          <p:cNvPr id="39" name="Text 3">
            <a:extLst>
              <a:ext uri="{FF2B5EF4-FFF2-40B4-BE49-F238E27FC236}">
                <a16:creationId xmlns:a16="http://schemas.microsoft.com/office/drawing/2014/main" id="{0A9ECF65-6EE8-9173-4AB7-E1B04A560E76}"/>
              </a:ext>
            </a:extLst>
          </p:cNvPr>
          <p:cNvSpPr/>
          <p:nvPr/>
        </p:nvSpPr>
        <p:spPr>
          <a:xfrm>
            <a:off x="7498080" y="0"/>
            <a:ext cx="1554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8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11 /23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9153755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C56AE77-F950-3437-033E-E0244DCB8AF8}"/>
              </a:ext>
            </a:extLst>
          </p:cNvPr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053F0FD-1B5C-6C07-26D7-8F98F11E0377}"/>
              </a:ext>
            </a:extLst>
          </p:cNvPr>
          <p:cNvSpPr/>
          <p:nvPr/>
        </p:nvSpPr>
        <p:spPr>
          <a:xfrm>
            <a:off x="0" y="0"/>
            <a:ext cx="201168" cy="960120"/>
          </a:xfrm>
          <a:prstGeom prst="rect">
            <a:avLst/>
          </a:prstGeom>
          <a:solidFill>
            <a:srgbClr val="D4722A"/>
          </a:solidFill>
          <a:ln w="12700">
            <a:solidFill>
              <a:srgbClr val="D4722A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66B329B-D91A-8F48-2474-FDE2ABA34AE6}"/>
              </a:ext>
            </a:extLst>
          </p:cNvPr>
          <p:cNvSpPr/>
          <p:nvPr/>
        </p:nvSpPr>
        <p:spPr>
          <a:xfrm>
            <a:off x="347472" y="0"/>
            <a:ext cx="7132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2: Evaluation Metrics  ★</a:t>
            </a:r>
            <a:endParaRPr lang="en-US" sz="24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EA2F3F7B-E673-68D5-3396-C4D5F440C5E7}"/>
              </a:ext>
            </a:extLst>
          </p:cNvPr>
          <p:cNvSpPr/>
          <p:nvPr/>
        </p:nvSpPr>
        <p:spPr>
          <a:xfrm>
            <a:off x="256032" y="1078992"/>
            <a:ext cx="1645920" cy="932688"/>
          </a:xfrm>
          <a:prstGeom prst="rect">
            <a:avLst/>
          </a:prstGeom>
          <a:solidFill>
            <a:srgbClr val="FFFFFF"/>
          </a:solidFill>
          <a:ln w="6350">
            <a:solidFill>
              <a:srgbClr val="DADEEA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FDD0B18D-2220-3137-40F1-D9133C3DBAE4}"/>
              </a:ext>
            </a:extLst>
          </p:cNvPr>
          <p:cNvSpPr/>
          <p:nvPr/>
        </p:nvSpPr>
        <p:spPr>
          <a:xfrm>
            <a:off x="365760" y="1133856"/>
            <a:ext cx="1426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C9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Score</a:t>
            </a:r>
            <a:endParaRPr lang="en-US" sz="9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478070A6-A65F-61D4-3CFB-7A8199E1884C}"/>
              </a:ext>
            </a:extLst>
          </p:cNvPr>
          <p:cNvSpPr/>
          <p:nvPr/>
        </p:nvSpPr>
        <p:spPr>
          <a:xfrm>
            <a:off x="365760" y="1353312"/>
            <a:ext cx="14264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0.9877</a:t>
            </a:r>
            <a:endParaRPr lang="en-US" sz="26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445C9E8C-44D1-1EEF-0B7D-83BBF6C009B4}"/>
              </a:ext>
            </a:extLst>
          </p:cNvPr>
          <p:cNvSpPr/>
          <p:nvPr/>
        </p:nvSpPr>
        <p:spPr>
          <a:xfrm>
            <a:off x="365760" y="1737360"/>
            <a:ext cx="14264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C9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goodness of fit</a:t>
            </a:r>
            <a:endParaRPr lang="en-US" sz="8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C360724F-608D-0660-1241-D48C8682903B}"/>
              </a:ext>
            </a:extLst>
          </p:cNvPr>
          <p:cNvSpPr/>
          <p:nvPr/>
        </p:nvSpPr>
        <p:spPr>
          <a:xfrm>
            <a:off x="1993392" y="1078992"/>
            <a:ext cx="1645920" cy="932688"/>
          </a:xfrm>
          <a:prstGeom prst="rect">
            <a:avLst/>
          </a:prstGeom>
          <a:solidFill>
            <a:srgbClr val="FFFFFF"/>
          </a:solidFill>
          <a:ln w="6350">
            <a:solidFill>
              <a:srgbClr val="DADEEA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3B5F46C4-D8CA-1AAD-C464-D4B3ADC18AD4}"/>
              </a:ext>
            </a:extLst>
          </p:cNvPr>
          <p:cNvSpPr/>
          <p:nvPr/>
        </p:nvSpPr>
        <p:spPr>
          <a:xfrm>
            <a:off x="2103120" y="1133856"/>
            <a:ext cx="1426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C9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9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9EF209EB-B777-16A2-4485-70B52DEFF3F6}"/>
              </a:ext>
            </a:extLst>
          </p:cNvPr>
          <p:cNvSpPr/>
          <p:nvPr/>
        </p:nvSpPr>
        <p:spPr>
          <a:xfrm>
            <a:off x="2103120" y="1353312"/>
            <a:ext cx="14264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0.0140</a:t>
            </a:r>
            <a:endParaRPr lang="en-US" sz="26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24884E20-3C6D-815E-0BB8-BED1E2550815}"/>
              </a:ext>
            </a:extLst>
          </p:cNvPr>
          <p:cNvSpPr/>
          <p:nvPr/>
        </p:nvSpPr>
        <p:spPr>
          <a:xfrm>
            <a:off x="2103120" y="1737360"/>
            <a:ext cx="14264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C9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abs. error</a:t>
            </a:r>
            <a:endParaRPr lang="en-US" sz="80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8C28B59E-F4EF-A4C5-4DCB-AD818FD2A71D}"/>
              </a:ext>
            </a:extLst>
          </p:cNvPr>
          <p:cNvSpPr/>
          <p:nvPr/>
        </p:nvSpPr>
        <p:spPr>
          <a:xfrm>
            <a:off x="3730752" y="1078992"/>
            <a:ext cx="1645920" cy="932688"/>
          </a:xfrm>
          <a:prstGeom prst="rect">
            <a:avLst/>
          </a:prstGeom>
          <a:solidFill>
            <a:srgbClr val="FFFFFF"/>
          </a:solidFill>
          <a:ln w="6350">
            <a:solidFill>
              <a:srgbClr val="DADEEA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DAE6E5C8-BEB6-2848-8080-7CA9723057FE}"/>
              </a:ext>
            </a:extLst>
          </p:cNvPr>
          <p:cNvSpPr/>
          <p:nvPr/>
        </p:nvSpPr>
        <p:spPr>
          <a:xfrm>
            <a:off x="3840480" y="1133856"/>
            <a:ext cx="1426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C9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9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1FC11F92-CAAD-5821-F8F7-E9F0EC74C7A3}"/>
              </a:ext>
            </a:extLst>
          </p:cNvPr>
          <p:cNvSpPr/>
          <p:nvPr/>
        </p:nvSpPr>
        <p:spPr>
          <a:xfrm>
            <a:off x="3840480" y="1353312"/>
            <a:ext cx="14264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0.1295</a:t>
            </a:r>
            <a:endParaRPr lang="en-US" sz="26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4A07F7D9-B670-678D-B083-B475CC4189E8}"/>
              </a:ext>
            </a:extLst>
          </p:cNvPr>
          <p:cNvSpPr/>
          <p:nvPr/>
        </p:nvSpPr>
        <p:spPr>
          <a:xfrm>
            <a:off x="3840480" y="1737360"/>
            <a:ext cx="14264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C9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mean sq. error</a:t>
            </a:r>
            <a:endParaRPr lang="en-US" sz="800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765448CD-77F2-20DE-DD4A-9AAD8C904B0A}"/>
              </a:ext>
            </a:extLst>
          </p:cNvPr>
          <p:cNvSpPr/>
          <p:nvPr/>
        </p:nvSpPr>
        <p:spPr>
          <a:xfrm>
            <a:off x="5468112" y="1078992"/>
            <a:ext cx="1645920" cy="932688"/>
          </a:xfrm>
          <a:prstGeom prst="rect">
            <a:avLst/>
          </a:prstGeom>
          <a:solidFill>
            <a:srgbClr val="FFFFFF"/>
          </a:solidFill>
          <a:ln w="6350">
            <a:solidFill>
              <a:srgbClr val="DADEEA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D8671C6E-A27F-B9C9-5D87-8061961BD3CA}"/>
              </a:ext>
            </a:extLst>
          </p:cNvPr>
          <p:cNvSpPr/>
          <p:nvPr/>
        </p:nvSpPr>
        <p:spPr>
          <a:xfrm>
            <a:off x="5577840" y="1133856"/>
            <a:ext cx="1426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C9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CRPS</a:t>
            </a:r>
            <a:endParaRPr lang="en-US" sz="9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9F6C59C1-512F-3FD0-9CF5-AECF7EC51835}"/>
              </a:ext>
            </a:extLst>
          </p:cNvPr>
          <p:cNvSpPr/>
          <p:nvPr/>
        </p:nvSpPr>
        <p:spPr>
          <a:xfrm>
            <a:off x="5577840" y="1353312"/>
            <a:ext cx="14264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47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0.0104</a:t>
            </a:r>
            <a:endParaRPr lang="en-US" sz="26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8F92477B-7BD9-98D2-6D03-965C004BACC3}"/>
              </a:ext>
            </a:extLst>
          </p:cNvPr>
          <p:cNvSpPr/>
          <p:nvPr/>
        </p:nvSpPr>
        <p:spPr>
          <a:xfrm>
            <a:off x="5577840" y="1737360"/>
            <a:ext cx="14264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C9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probabilistic quality</a:t>
            </a:r>
            <a:endParaRPr lang="en-US" sz="800" dirty="0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C482606A-97EF-ED6F-403A-D2B30ED4347A}"/>
              </a:ext>
            </a:extLst>
          </p:cNvPr>
          <p:cNvSpPr/>
          <p:nvPr/>
        </p:nvSpPr>
        <p:spPr>
          <a:xfrm>
            <a:off x="7205472" y="1078992"/>
            <a:ext cx="1645920" cy="932688"/>
          </a:xfrm>
          <a:prstGeom prst="rect">
            <a:avLst/>
          </a:prstGeom>
          <a:solidFill>
            <a:srgbClr val="FFFFFF"/>
          </a:solidFill>
          <a:ln w="6350">
            <a:solidFill>
              <a:srgbClr val="DADEEA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C713CC55-9AC4-7BC8-52C1-143E179293D3}"/>
              </a:ext>
            </a:extLst>
          </p:cNvPr>
          <p:cNvSpPr/>
          <p:nvPr/>
        </p:nvSpPr>
        <p:spPr>
          <a:xfrm>
            <a:off x="7315200" y="1133856"/>
            <a:ext cx="1426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C9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Coverage</a:t>
            </a:r>
            <a:endParaRPr lang="en-US" sz="9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C2713189-E801-7796-B793-9AED8C94B283}"/>
              </a:ext>
            </a:extLst>
          </p:cNvPr>
          <p:cNvSpPr/>
          <p:nvPr/>
        </p:nvSpPr>
        <p:spPr>
          <a:xfrm>
            <a:off x="7315200" y="1353312"/>
            <a:ext cx="14264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47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81.3%</a:t>
            </a:r>
            <a:endParaRPr lang="en-US" sz="2600" dirty="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506F68A1-A8A4-B50F-1C88-4A68E092F49B}"/>
              </a:ext>
            </a:extLst>
          </p:cNvPr>
          <p:cNvSpPr/>
          <p:nvPr/>
        </p:nvSpPr>
        <p:spPr>
          <a:xfrm>
            <a:off x="7315200" y="1737360"/>
            <a:ext cx="14264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C9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≈ 80%</a:t>
            </a:r>
            <a:endParaRPr lang="en-US" sz="800" dirty="0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67AB58EA-39EB-D571-1555-F9E4AC445FEA}"/>
              </a:ext>
            </a:extLst>
          </p:cNvPr>
          <p:cNvSpPr/>
          <p:nvPr/>
        </p:nvSpPr>
        <p:spPr>
          <a:xfrm>
            <a:off x="256032" y="2176272"/>
            <a:ext cx="4251960" cy="2670048"/>
          </a:xfrm>
          <a:prstGeom prst="rect">
            <a:avLst/>
          </a:prstGeom>
          <a:solidFill>
            <a:srgbClr val="FFFFFF"/>
          </a:solidFill>
          <a:ln w="6350">
            <a:solidFill>
              <a:srgbClr val="DADEEA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44E537AF-F347-08C9-E851-9610D7C8CFAC}"/>
              </a:ext>
            </a:extLst>
          </p:cNvPr>
          <p:cNvSpPr/>
          <p:nvPr/>
        </p:nvSpPr>
        <p:spPr>
          <a:xfrm>
            <a:off x="256032" y="2176272"/>
            <a:ext cx="4251960" cy="329184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07B47B8B-7B89-2E30-7BFA-51DC37D2D61A}"/>
              </a:ext>
            </a:extLst>
          </p:cNvPr>
          <p:cNvSpPr/>
          <p:nvPr/>
        </p:nvSpPr>
        <p:spPr>
          <a:xfrm>
            <a:off x="365760" y="2176272"/>
            <a:ext cx="4069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CRPS? — The Probabilistic Metric</a:t>
            </a:r>
            <a:endParaRPr lang="en-US" sz="1600" dirty="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79040E0E-FE1A-59C2-08C0-6F1BCDE70816}"/>
              </a:ext>
            </a:extLst>
          </p:cNvPr>
          <p:cNvSpPr/>
          <p:nvPr/>
        </p:nvSpPr>
        <p:spPr>
          <a:xfrm>
            <a:off x="384048" y="2578608"/>
            <a:ext cx="4005072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models report only MAE on point forecasts.
Our TFT predicts a full distribution (Q10, Q50, Q90).
</a:t>
            </a: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CRPS = Continuous Ranked Probability Score
</a:t>
            </a: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rewards both accuracy AND sharpness of the
predicted distribution simultaneously.
</a:t>
            </a:r>
            <a:r>
              <a:rPr lang="en-US" sz="1400" b="1" dirty="0">
                <a:solidFill>
                  <a:srgbClr val="D47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CRPS = 0.0104  </a:t>
            </a: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the model produces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accurately calibrated, sharp intervals —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arbitrarily wide bands.</a:t>
            </a:r>
            <a:endParaRPr lang="en-US" sz="1400" dirty="0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FB7E2966-815A-E838-FDEA-66D741F760F0}"/>
              </a:ext>
            </a:extLst>
          </p:cNvPr>
          <p:cNvSpPr/>
          <p:nvPr/>
        </p:nvSpPr>
        <p:spPr>
          <a:xfrm>
            <a:off x="4636008" y="2176272"/>
            <a:ext cx="4251960" cy="2670048"/>
          </a:xfrm>
          <a:prstGeom prst="rect">
            <a:avLst/>
          </a:prstGeom>
          <a:solidFill>
            <a:srgbClr val="FFFFFF"/>
          </a:solidFill>
          <a:ln w="6350">
            <a:solidFill>
              <a:srgbClr val="DADEEA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DDD8FF86-A1E4-C8AC-D081-D499FD075C60}"/>
              </a:ext>
            </a:extLst>
          </p:cNvPr>
          <p:cNvSpPr/>
          <p:nvPr/>
        </p:nvSpPr>
        <p:spPr>
          <a:xfrm>
            <a:off x="4636008" y="2176272"/>
            <a:ext cx="4251960" cy="329184"/>
          </a:xfrm>
          <a:prstGeom prst="rect">
            <a:avLst/>
          </a:prstGeom>
          <a:solidFill>
            <a:srgbClr val="D4722A"/>
          </a:solidFill>
          <a:ln w="12700">
            <a:solidFill>
              <a:srgbClr val="D4722A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D1C8B8D9-9B87-F04D-5A07-4A196F60D695}"/>
              </a:ext>
            </a:extLst>
          </p:cNvPr>
          <p:cNvSpPr/>
          <p:nvPr/>
        </p:nvSpPr>
        <p:spPr>
          <a:xfrm>
            <a:off x="4745736" y="2176272"/>
            <a:ext cx="4069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Quantile Coverage — Calibration Check</a:t>
            </a:r>
            <a:endParaRPr lang="en-US" sz="1600" dirty="0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7C2AC41A-F392-DD3B-38FC-FE5D5862D9AF}"/>
              </a:ext>
            </a:extLst>
          </p:cNvPr>
          <p:cNvSpPr/>
          <p:nvPr/>
        </p:nvSpPr>
        <p:spPr>
          <a:xfrm>
            <a:off x="4773168" y="2578608"/>
            <a:ext cx="4005072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81.3% of actual values fall within the
predicted 10th–90th percentile interval.
</a:t>
            </a: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target = 80%  ✓
Coverage &gt; 80%:</a:t>
            </a: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model is cautious → safer for
emergency routing decisions
</a:t>
            </a: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&lt; 80%:</a:t>
            </a: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overconfident → risky routing
</a:t>
            </a:r>
            <a:r>
              <a:rPr lang="en-US" sz="1400" i="1" dirty="0">
                <a:solidFill>
                  <a:srgbClr val="8C9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1.3% margin confirms uncertainty bands</a:t>
            </a:r>
            <a:endParaRPr lang="en-US" sz="1400" dirty="0"/>
          </a:p>
          <a:p>
            <a:pPr marL="0" indent="0">
              <a:buNone/>
            </a:pPr>
            <a:r>
              <a:rPr lang="en-US" sz="1400" i="1" dirty="0">
                <a:solidFill>
                  <a:srgbClr val="8C9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trustworthy inputs for Stage 4.</a:t>
            </a:r>
            <a:endParaRPr lang="en-US" sz="1100" dirty="0"/>
          </a:p>
        </p:txBody>
      </p:sp>
      <p:sp>
        <p:nvSpPr>
          <p:cNvPr id="34" name="Text 3">
            <a:extLst>
              <a:ext uri="{FF2B5EF4-FFF2-40B4-BE49-F238E27FC236}">
                <a16:creationId xmlns:a16="http://schemas.microsoft.com/office/drawing/2014/main" id="{1F1822EB-CEA2-0D44-E269-E0D6F9833874}"/>
              </a:ext>
            </a:extLst>
          </p:cNvPr>
          <p:cNvSpPr/>
          <p:nvPr/>
        </p:nvSpPr>
        <p:spPr>
          <a:xfrm>
            <a:off x="7498080" y="0"/>
            <a:ext cx="1554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8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12 /23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6483873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65836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Stage 3 — Causal Modeling of Incident Impact (DoWhy)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20040" y="77724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A1A"/>
                </a:solidFill>
              </a:rPr>
              <a:t>Goal: Estimate Average Treatment Effect (ATE) — the delay directly caused by an incident, not merely correlated with it.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256032" y="1371600"/>
            <a:ext cx="8732520" cy="786384"/>
          </a:xfrm>
          <a:prstGeom prst="rect">
            <a:avLst/>
          </a:prstGeom>
          <a:solidFill>
            <a:srgbClr val="EEF2F8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256032" y="1371600"/>
            <a:ext cx="1005840" cy="786384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256032" y="1371600"/>
            <a:ext cx="10058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  MODEL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53312" y="1463040"/>
            <a:ext cx="7498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</a:rPr>
              <a:t>Construct causal graph: Incident (treatment) → Travel Time (outcome). Time of Day acts as confounder affecting both variables.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56032" y="2267712"/>
            <a:ext cx="873252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256032" y="2267712"/>
            <a:ext cx="1005840" cy="786384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256032" y="2267712"/>
            <a:ext cx="10058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 IDENTIFY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53312" y="2359152"/>
            <a:ext cx="7498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</a:rPr>
              <a:t>DoWhy determines a valid statistical strategy to isolate the causal effect — blocking backdoor paths through confounders.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56032" y="3163824"/>
            <a:ext cx="8732520" cy="786384"/>
          </a:xfrm>
          <a:prstGeom prst="rect">
            <a:avLst/>
          </a:prstGeom>
          <a:solidFill>
            <a:srgbClr val="EEF2F8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256032" y="3163824"/>
            <a:ext cx="1005840" cy="786384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chemeClr val="accent1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256032" y="3163824"/>
            <a:ext cx="109728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  ESTIMATE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53312" y="3255264"/>
            <a:ext cx="7498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</a:rPr>
              <a:t>Apply propensity score matching or linear regression → produces ATE: e.g., "+15 min delay caused by accident on this segment."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256032" y="4059936"/>
            <a:ext cx="873252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256032" y="4059936"/>
            <a:ext cx="1005840" cy="786384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chemeClr val="accent1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256032" y="4059936"/>
            <a:ext cx="10058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  REFUTE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353312" y="4151376"/>
            <a:ext cx="7498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</a:rPr>
              <a:t>Built-in refutation tests check robustness — random common cause, placebo treatment, subset data — to validate assumptions.</a:t>
            </a:r>
            <a:endParaRPr lang="en-US" sz="1600" dirty="0"/>
          </a:p>
        </p:txBody>
      </p:sp>
      <p:sp>
        <p:nvSpPr>
          <p:cNvPr id="23" name="Text 3">
            <a:extLst>
              <a:ext uri="{FF2B5EF4-FFF2-40B4-BE49-F238E27FC236}">
                <a16:creationId xmlns:a16="http://schemas.microsoft.com/office/drawing/2014/main" id="{EB1E961A-628B-1FE2-B62A-69D35662E825}"/>
              </a:ext>
            </a:extLst>
          </p:cNvPr>
          <p:cNvSpPr/>
          <p:nvPr/>
        </p:nvSpPr>
        <p:spPr>
          <a:xfrm>
            <a:off x="7498080" y="0"/>
            <a:ext cx="1554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8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13 /23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D402EDA-8AC2-4F6D-4B01-746010E5AAB9}"/>
              </a:ext>
            </a:extLst>
          </p:cNvPr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DEBF3E9F-2948-E008-1CCD-417069AF8FC6}"/>
              </a:ext>
            </a:extLst>
          </p:cNvPr>
          <p:cNvSpPr/>
          <p:nvPr/>
        </p:nvSpPr>
        <p:spPr>
          <a:xfrm>
            <a:off x="0" y="0"/>
            <a:ext cx="201168" cy="960120"/>
          </a:xfrm>
          <a:prstGeom prst="rect">
            <a:avLst/>
          </a:prstGeom>
          <a:solidFill>
            <a:srgbClr val="D4722A"/>
          </a:solidFill>
          <a:ln w="12700">
            <a:solidFill>
              <a:srgbClr val="D4722A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4643A8C-E289-9139-9910-D4AD5E7A7B69}"/>
              </a:ext>
            </a:extLst>
          </p:cNvPr>
          <p:cNvSpPr/>
          <p:nvPr/>
        </p:nvSpPr>
        <p:spPr>
          <a:xfrm>
            <a:off x="347472" y="0"/>
            <a:ext cx="7132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3: Why Causal Inference?  ★</a:t>
            </a:r>
            <a:endParaRPr lang="en-US" sz="24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E10D22A-5944-9EB0-9B66-27B19CCA8D24}"/>
              </a:ext>
            </a:extLst>
          </p:cNvPr>
          <p:cNvSpPr/>
          <p:nvPr/>
        </p:nvSpPr>
        <p:spPr>
          <a:xfrm>
            <a:off x="7498080" y="0"/>
            <a:ext cx="1554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AF658E79-FB56-E75C-B59B-A4AB1C7A1159}"/>
              </a:ext>
            </a:extLst>
          </p:cNvPr>
          <p:cNvSpPr/>
          <p:nvPr/>
        </p:nvSpPr>
        <p:spPr>
          <a:xfrm>
            <a:off x="256032" y="1078992"/>
            <a:ext cx="4206240" cy="3721608"/>
          </a:xfrm>
          <a:prstGeom prst="rect">
            <a:avLst/>
          </a:prstGeom>
          <a:solidFill>
            <a:srgbClr val="FFFFFF"/>
          </a:solidFill>
          <a:ln w="6350">
            <a:solidFill>
              <a:srgbClr val="DADEEA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5DC95296-7281-938C-3ABB-B428311DF781}"/>
              </a:ext>
            </a:extLst>
          </p:cNvPr>
          <p:cNvSpPr/>
          <p:nvPr/>
        </p:nvSpPr>
        <p:spPr>
          <a:xfrm>
            <a:off x="256032" y="1078992"/>
            <a:ext cx="4206240" cy="329184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C2AA8A6E-0273-7E06-B950-A84BCD5DD611}"/>
              </a:ext>
            </a:extLst>
          </p:cNvPr>
          <p:cNvSpPr/>
          <p:nvPr/>
        </p:nvSpPr>
        <p:spPr>
          <a:xfrm>
            <a:off x="365760" y="1078992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with Correlation</a:t>
            </a:r>
            <a:endParaRPr lang="en-US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95B1716E-0692-9BFB-B05C-6CC962E5DE58}"/>
              </a:ext>
            </a:extLst>
          </p:cNvPr>
          <p:cNvSpPr/>
          <p:nvPr/>
        </p:nvSpPr>
        <p:spPr>
          <a:xfrm>
            <a:off x="384048" y="1481328"/>
            <a:ext cx="3950208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47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correlation model observes:
"Accidents co-occur with delays"</a:t>
            </a:r>
            <a:r>
              <a:rPr lang="en-US" sz="1400" i="1" dirty="0">
                <a:solidFill>
                  <a:srgbClr val="D47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cannot distinguish:</a:t>
            </a: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600" dirty="0">
                <a:solidFill>
                  <a:srgbClr val="1A1A1A"/>
                </a:solidFill>
              </a:rPr>
              <a:t>▸  Was delay caused by the accident?
▸  Or by peak-hour congestion that
    made the accident more likely?
▸  Or by monsoon rain affecting both?</a:t>
            </a: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600" dirty="0">
                <a:solidFill>
                  <a:srgbClr val="1A1A1A"/>
                </a:solidFill>
              </a:rPr>
              <a:t>Misattributed delays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</a:rPr>
              <a:t>→ wrong routing decisions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</a:rPr>
              <a:t>→ longer emergency response times</a:t>
            </a: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2B9209D1-15A3-32D7-371B-097D19E21A5C}"/>
              </a:ext>
            </a:extLst>
          </p:cNvPr>
          <p:cNvSpPr/>
          <p:nvPr/>
        </p:nvSpPr>
        <p:spPr>
          <a:xfrm>
            <a:off x="4681728" y="1078992"/>
            <a:ext cx="4206240" cy="3721608"/>
          </a:xfrm>
          <a:prstGeom prst="rect">
            <a:avLst/>
          </a:prstGeom>
          <a:solidFill>
            <a:srgbClr val="FFFFFF"/>
          </a:solidFill>
          <a:ln w="6350">
            <a:solidFill>
              <a:srgbClr val="DADEEA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9DD5E876-9A54-3487-0C41-C80B98048685}"/>
              </a:ext>
            </a:extLst>
          </p:cNvPr>
          <p:cNvSpPr/>
          <p:nvPr/>
        </p:nvSpPr>
        <p:spPr>
          <a:xfrm>
            <a:off x="4681728" y="1078992"/>
            <a:ext cx="4206240" cy="329184"/>
          </a:xfrm>
          <a:prstGeom prst="rect">
            <a:avLst/>
          </a:prstGeom>
          <a:solidFill>
            <a:srgbClr val="D4722A"/>
          </a:solidFill>
          <a:ln w="12700">
            <a:solidFill>
              <a:srgbClr val="D4722A"/>
            </a:solidFill>
            <a:prstDash val="solid"/>
          </a:ln>
        </p:spPr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BB01FCE2-ED36-69CC-3E93-5F57CD55A706}"/>
              </a:ext>
            </a:extLst>
          </p:cNvPr>
          <p:cNvSpPr/>
          <p:nvPr/>
        </p:nvSpPr>
        <p:spPr>
          <a:xfrm>
            <a:off x="4791456" y="1078992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Solution: DoWhy Causal Pipeline</a:t>
            </a:r>
            <a:endParaRPr lang="en-US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AE9D6D5E-7324-B40C-67B2-3AB1B199207A}"/>
              </a:ext>
            </a:extLst>
          </p:cNvPr>
          <p:cNvSpPr/>
          <p:nvPr/>
        </p:nvSpPr>
        <p:spPr>
          <a:xfrm>
            <a:off x="4828032" y="1481328"/>
            <a:ext cx="39319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ea typeface="Calibri" pitchFamily="34" charset="-122"/>
                <a:cs typeface="Calibri" pitchFamily="34" charset="-120"/>
              </a:rPr>
              <a:t>Treatment: </a:t>
            </a:r>
            <a:r>
              <a:rPr lang="en-US" sz="1600" dirty="0">
                <a:ea typeface="Calibri" pitchFamily="34" charset="-122"/>
                <a:cs typeface="Calibri" pitchFamily="34" charset="-120"/>
              </a:rPr>
              <a:t>Incident flag (high vs. normal)
</a:t>
            </a:r>
            <a:r>
              <a:rPr lang="en-US" sz="1600" b="1" dirty="0">
                <a:ea typeface="Calibri" pitchFamily="34" charset="-122"/>
                <a:cs typeface="Calibri" pitchFamily="34" charset="-120"/>
              </a:rPr>
              <a:t>Outcome: </a:t>
            </a:r>
            <a:r>
              <a:rPr lang="en-US" sz="1600" dirty="0">
                <a:ea typeface="Calibri" pitchFamily="34" charset="-122"/>
                <a:cs typeface="Calibri" pitchFamily="34" charset="-120"/>
              </a:rPr>
              <a:t>Travel Time Index
</a:t>
            </a:r>
            <a:r>
              <a:rPr lang="en-US" sz="1600" b="1" dirty="0">
                <a:ea typeface="Calibri" pitchFamily="34" charset="-122"/>
                <a:cs typeface="Calibri" pitchFamily="34" charset="-120"/>
              </a:rPr>
              <a:t>Confounders controlled: </a:t>
            </a:r>
            <a:r>
              <a:rPr lang="en-US" sz="1600" dirty="0">
                <a:ea typeface="Calibri" pitchFamily="34" charset="-122"/>
                <a:cs typeface="Calibri" pitchFamily="34" charset="-120"/>
              </a:rPr>
              <a:t>Congestion level,
hour of day, weather, festival day
</a:t>
            </a:r>
            <a:r>
              <a:rPr lang="en-US" sz="1600" b="1" dirty="0">
                <a:ea typeface="Calibri" pitchFamily="34" charset="-122"/>
                <a:cs typeface="Calibri" pitchFamily="34" charset="-120"/>
              </a:rPr>
              <a:t>DoWhy 4-step process:
</a:t>
            </a:r>
            <a:r>
              <a:rPr lang="en-US" sz="1600" dirty="0">
                <a:ea typeface="Calibri" pitchFamily="34" charset="-122"/>
                <a:cs typeface="Calibri" pitchFamily="34" charset="-120"/>
              </a:rPr>
              <a:t>1. Model causal graph (DAG)
2. Identify backdoor criterion
3. Estimate ATE via IPW
4. Refute </a:t>
            </a:r>
            <a:r>
              <a:rPr lang="en-US" sz="1600" dirty="0"/>
              <a:t>with</a:t>
            </a:r>
            <a:r>
              <a:rPr lang="en-US" sz="1600" dirty="0">
                <a:ea typeface="Calibri" pitchFamily="34" charset="-122"/>
                <a:cs typeface="Calibri" pitchFamily="34" charset="-120"/>
              </a:rPr>
              <a:t> placebo + noise tests
</a:t>
            </a:r>
            <a:r>
              <a:rPr lang="en-US" sz="1600" b="1" dirty="0">
                <a:ea typeface="Calibri" pitchFamily="34" charset="-122"/>
                <a:cs typeface="Calibri" pitchFamily="34" charset="-120"/>
              </a:rPr>
              <a:t>Output: Causal delay per road segment —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ea typeface="Calibri" pitchFamily="34" charset="-122"/>
                <a:cs typeface="Calibri" pitchFamily="34" charset="-120"/>
              </a:rPr>
              <a:t>not correlation, true causal effect.</a:t>
            </a:r>
            <a:endParaRPr lang="en-US" sz="1600" dirty="0"/>
          </a:p>
        </p:txBody>
      </p:sp>
      <p:sp>
        <p:nvSpPr>
          <p:cNvPr id="15" name="Text 3">
            <a:extLst>
              <a:ext uri="{FF2B5EF4-FFF2-40B4-BE49-F238E27FC236}">
                <a16:creationId xmlns:a16="http://schemas.microsoft.com/office/drawing/2014/main" id="{CA356778-5784-439C-E9D7-E13742B566EE}"/>
              </a:ext>
            </a:extLst>
          </p:cNvPr>
          <p:cNvSpPr/>
          <p:nvPr/>
        </p:nvSpPr>
        <p:spPr>
          <a:xfrm>
            <a:off x="7333488" y="-137160"/>
            <a:ext cx="1554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8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14 /23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2706504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DFE2FCF2-AA40-0847-85A2-A830A5C52A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" y="633298"/>
            <a:ext cx="6742902" cy="4374131"/>
          </a:xfrm>
          <a:prstGeom prst="rect">
            <a:avLst/>
          </a:prstGeom>
        </p:spPr>
      </p:pic>
      <p:sp>
        <p:nvSpPr>
          <p:cNvPr id="2" name="Shape 0">
            <a:extLst>
              <a:ext uri="{FF2B5EF4-FFF2-40B4-BE49-F238E27FC236}">
                <a16:creationId xmlns:a16="http://schemas.microsoft.com/office/drawing/2014/main" id="{12305AA5-FDF7-530A-9029-4A01FAF0C0DA}"/>
              </a:ext>
            </a:extLst>
          </p:cNvPr>
          <p:cNvSpPr/>
          <p:nvPr/>
        </p:nvSpPr>
        <p:spPr>
          <a:xfrm>
            <a:off x="0" y="0"/>
            <a:ext cx="9144000" cy="617220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560AABF-DE0A-BE5C-30BE-366B154C758F}"/>
              </a:ext>
            </a:extLst>
          </p:cNvPr>
          <p:cNvSpPr/>
          <p:nvPr/>
        </p:nvSpPr>
        <p:spPr>
          <a:xfrm>
            <a:off x="0" y="0"/>
            <a:ext cx="201168" cy="617220"/>
          </a:xfrm>
          <a:prstGeom prst="rect">
            <a:avLst/>
          </a:prstGeom>
          <a:solidFill>
            <a:srgbClr val="D4722A"/>
          </a:solidFill>
          <a:ln w="12700">
            <a:solidFill>
              <a:srgbClr val="D4722A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20D708B-EDFE-BBFD-331A-E512D4BA9E65}"/>
              </a:ext>
            </a:extLst>
          </p:cNvPr>
          <p:cNvSpPr/>
          <p:nvPr/>
        </p:nvSpPr>
        <p:spPr>
          <a:xfrm>
            <a:off x="347472" y="0"/>
            <a:ext cx="713232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3: Per-Segment Causal Effects  ★</a:t>
            </a:r>
            <a:endParaRPr lang="en-US" sz="24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6612CD7-422B-DA8D-555F-31B6FC079813}"/>
              </a:ext>
            </a:extLst>
          </p:cNvPr>
          <p:cNvSpPr/>
          <p:nvPr/>
        </p:nvSpPr>
        <p:spPr>
          <a:xfrm>
            <a:off x="7498080" y="0"/>
            <a:ext cx="155448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F00D45EE-42BD-7E0B-E7A9-12C6D29DA8CC}"/>
              </a:ext>
            </a:extLst>
          </p:cNvPr>
          <p:cNvSpPr/>
          <p:nvPr/>
        </p:nvSpPr>
        <p:spPr>
          <a:xfrm>
            <a:off x="3069046" y="2407158"/>
            <a:ext cx="283464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ADEEA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4C4CF3B2-EF2E-D6DF-0A16-83C66E36EC6D}"/>
              </a:ext>
            </a:extLst>
          </p:cNvPr>
          <p:cNvSpPr/>
          <p:nvPr/>
        </p:nvSpPr>
        <p:spPr>
          <a:xfrm>
            <a:off x="3069046" y="2407158"/>
            <a:ext cx="2834640" cy="329184"/>
          </a:xfrm>
          <a:prstGeom prst="rect">
            <a:avLst/>
          </a:prstGeom>
          <a:solidFill>
            <a:srgbClr val="D4722A"/>
          </a:solidFill>
          <a:ln w="12700">
            <a:solidFill>
              <a:srgbClr val="D4722A"/>
            </a:solidFill>
            <a:prstDash val="solid"/>
          </a:ln>
        </p:spPr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C811A718-18EF-2E13-AACD-19C62E298633}"/>
              </a:ext>
            </a:extLst>
          </p:cNvPr>
          <p:cNvSpPr/>
          <p:nvPr/>
        </p:nvSpPr>
        <p:spPr>
          <a:xfrm>
            <a:off x="3178774" y="2407158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Impact Segment</a:t>
            </a:r>
            <a:endParaRPr lang="en-US" sz="14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8EEF6A99-65F8-FBCE-104D-7467A4D9410C}"/>
              </a:ext>
            </a:extLst>
          </p:cNvPr>
          <p:cNvSpPr/>
          <p:nvPr/>
        </p:nvSpPr>
        <p:spPr>
          <a:xfrm>
            <a:off x="3215350" y="2772918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Hosur Road, Electronic City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 = +0.2793 TTI units</a:t>
            </a:r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avoidance recommended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Stage 4 routing engine</a:t>
            </a:r>
            <a:endParaRPr lang="en-US" sz="12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B2E4D80E-2D61-C8C6-BC12-A620D466BC36}"/>
              </a:ext>
            </a:extLst>
          </p:cNvPr>
          <p:cNvSpPr/>
          <p:nvPr/>
        </p:nvSpPr>
        <p:spPr>
          <a:xfrm>
            <a:off x="6163056" y="1572587"/>
            <a:ext cx="2834640" cy="2210348"/>
          </a:xfrm>
          <a:prstGeom prst="rect">
            <a:avLst/>
          </a:prstGeom>
          <a:solidFill>
            <a:srgbClr val="FFFFFF"/>
          </a:solidFill>
          <a:ln w="6350">
            <a:solidFill>
              <a:srgbClr val="DADEEA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943046C3-88C5-B107-CA68-F10160B8C15B}"/>
              </a:ext>
            </a:extLst>
          </p:cNvPr>
          <p:cNvSpPr/>
          <p:nvPr/>
        </p:nvSpPr>
        <p:spPr>
          <a:xfrm>
            <a:off x="6163056" y="1572587"/>
            <a:ext cx="2834640" cy="329184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DCDC2D34-DE77-B117-59BD-FC93929713F3}"/>
              </a:ext>
            </a:extLst>
          </p:cNvPr>
          <p:cNvSpPr/>
          <p:nvPr/>
        </p:nvSpPr>
        <p:spPr>
          <a:xfrm>
            <a:off x="6272784" y="1572587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Surprising Finding</a:t>
            </a:r>
            <a:endParaRPr lang="en-US" sz="14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9B5A16F9-A416-1A7C-3E66-CAB1070FC634}"/>
              </a:ext>
            </a:extLst>
          </p:cNvPr>
          <p:cNvSpPr/>
          <p:nvPr/>
        </p:nvSpPr>
        <p:spPr>
          <a:xfrm>
            <a:off x="6309360" y="1917849"/>
            <a:ext cx="2560320" cy="18650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Indiranagar 100 Feet Road
ATE = −0.0143
Negative ATE: when incidents occur here, drivers reroute away — actually reducing measured travel time on this segment.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correlation model would miss this entirely.</a:t>
            </a:r>
            <a:endParaRPr lang="en-US" sz="1200" dirty="0"/>
          </a:p>
        </p:txBody>
      </p:sp>
      <p:sp>
        <p:nvSpPr>
          <p:cNvPr id="19" name="Text 3">
            <a:extLst>
              <a:ext uri="{FF2B5EF4-FFF2-40B4-BE49-F238E27FC236}">
                <a16:creationId xmlns:a16="http://schemas.microsoft.com/office/drawing/2014/main" id="{92219FED-FA87-AD39-D5A4-64DAB8E990DF}"/>
              </a:ext>
            </a:extLst>
          </p:cNvPr>
          <p:cNvSpPr/>
          <p:nvPr/>
        </p:nvSpPr>
        <p:spPr>
          <a:xfrm>
            <a:off x="7498080" y="0"/>
            <a:ext cx="1554480" cy="6332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8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15 /23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0181160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BA758B1-118A-8BE6-4AFA-458B0CFA36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725" y="0"/>
            <a:ext cx="7504835" cy="5143500"/>
          </a:xfrm>
          <a:prstGeom prst="rect">
            <a:avLst/>
          </a:prstGeom>
        </p:spPr>
      </p:pic>
      <p:sp>
        <p:nvSpPr>
          <p:cNvPr id="4" name="Text 3">
            <a:extLst>
              <a:ext uri="{FF2B5EF4-FFF2-40B4-BE49-F238E27FC236}">
                <a16:creationId xmlns:a16="http://schemas.microsoft.com/office/drawing/2014/main" id="{AB04AEF8-27B7-50DF-8316-7BBC9CC4DABD}"/>
              </a:ext>
            </a:extLst>
          </p:cNvPr>
          <p:cNvSpPr/>
          <p:nvPr/>
        </p:nvSpPr>
        <p:spPr>
          <a:xfrm>
            <a:off x="7498080" y="0"/>
            <a:ext cx="1554480" cy="7547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Slide 16 /23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7156862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4125AF9-E35C-A1FB-7776-6CE62F8FDFB5}"/>
              </a:ext>
            </a:extLst>
          </p:cNvPr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B7D2F3F-CEDA-DBCD-0733-284B7E44092B}"/>
              </a:ext>
            </a:extLst>
          </p:cNvPr>
          <p:cNvSpPr/>
          <p:nvPr/>
        </p:nvSpPr>
        <p:spPr>
          <a:xfrm>
            <a:off x="0" y="0"/>
            <a:ext cx="201168" cy="960120"/>
          </a:xfrm>
          <a:prstGeom prst="rect">
            <a:avLst/>
          </a:prstGeom>
          <a:solidFill>
            <a:srgbClr val="D4722A"/>
          </a:solidFill>
          <a:ln w="12700">
            <a:solidFill>
              <a:srgbClr val="D4722A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AB64A32-75E6-6201-E225-CF305040B999}"/>
              </a:ext>
            </a:extLst>
          </p:cNvPr>
          <p:cNvSpPr/>
          <p:nvPr/>
        </p:nvSpPr>
        <p:spPr>
          <a:xfrm>
            <a:off x="347472" y="0"/>
            <a:ext cx="7132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3: Robustness &amp; Honest Reporting</a:t>
            </a:r>
            <a:endParaRPr lang="en-US" sz="24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96CDEB0-2AD6-EC82-42BC-A3DDF02B0B1A}"/>
              </a:ext>
            </a:extLst>
          </p:cNvPr>
          <p:cNvSpPr/>
          <p:nvPr/>
        </p:nvSpPr>
        <p:spPr>
          <a:xfrm>
            <a:off x="7498080" y="0"/>
            <a:ext cx="1554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6DDA0D2E-6159-260A-B132-36AD5CEB0D8D}"/>
              </a:ext>
            </a:extLst>
          </p:cNvPr>
          <p:cNvSpPr/>
          <p:nvPr/>
        </p:nvSpPr>
        <p:spPr>
          <a:xfrm>
            <a:off x="256032" y="1078992"/>
            <a:ext cx="2834640" cy="3721608"/>
          </a:xfrm>
          <a:prstGeom prst="rect">
            <a:avLst/>
          </a:prstGeom>
          <a:solidFill>
            <a:srgbClr val="FFFFFF"/>
          </a:solidFill>
          <a:ln w="6350">
            <a:solidFill>
              <a:srgbClr val="DADEEA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75FDD8C7-667C-8E0E-CFEC-82C0EC7AE420}"/>
              </a:ext>
            </a:extLst>
          </p:cNvPr>
          <p:cNvSpPr/>
          <p:nvPr/>
        </p:nvSpPr>
        <p:spPr>
          <a:xfrm>
            <a:off x="256032" y="1078992"/>
            <a:ext cx="2834640" cy="329184"/>
          </a:xfrm>
          <a:prstGeom prst="rect">
            <a:avLst/>
          </a:prstGeom>
          <a:solidFill>
            <a:srgbClr val="D4722A"/>
          </a:solidFill>
          <a:ln w="12700">
            <a:solidFill>
              <a:srgbClr val="D4722A"/>
            </a:solidFill>
            <a:prstDash val="solid"/>
          </a:ln>
        </p:spPr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28161D8C-7324-2ED0-07A3-E7BE446FEBAA}"/>
              </a:ext>
            </a:extLst>
          </p:cNvPr>
          <p:cNvSpPr/>
          <p:nvPr/>
        </p:nvSpPr>
        <p:spPr>
          <a:xfrm>
            <a:off x="365760" y="1078992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Refutation Results</a:t>
            </a:r>
            <a:endParaRPr lang="en-US" sz="16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7F4DCDF8-9685-185D-7640-98B2F868425C}"/>
              </a:ext>
            </a:extLst>
          </p:cNvPr>
          <p:cNvSpPr/>
          <p:nvPr/>
        </p:nvSpPr>
        <p:spPr>
          <a:xfrm>
            <a:off x="384048" y="1481328"/>
            <a:ext cx="25786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16</a:t>
            </a:r>
            <a:endParaRPr lang="en-US" sz="44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E8C96B86-9227-80D7-5CD3-86D0F873AE87}"/>
              </a:ext>
            </a:extLst>
          </p:cNvPr>
          <p:cNvSpPr/>
          <p:nvPr/>
        </p:nvSpPr>
        <p:spPr>
          <a:xfrm>
            <a:off x="384048" y="2212848"/>
            <a:ext cx="2578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segments passed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refutation tests</a:t>
            </a:r>
            <a:endParaRPr lang="en-US" sz="14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778A3274-24E3-E545-6A2F-63E61BD58F33}"/>
              </a:ext>
            </a:extLst>
          </p:cNvPr>
          <p:cNvSpPr/>
          <p:nvPr/>
        </p:nvSpPr>
        <p:spPr>
          <a:xfrm>
            <a:off x="384048" y="2688336"/>
            <a:ext cx="2578608" cy="36576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E0E4276E-35DF-3255-9370-BE1FDCE1BDD0}"/>
              </a:ext>
            </a:extLst>
          </p:cNvPr>
          <p:cNvSpPr/>
          <p:nvPr/>
        </p:nvSpPr>
        <p:spPr>
          <a:xfrm>
            <a:off x="384048" y="2798064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Placebo treatment test</a:t>
            </a:r>
            <a:endParaRPr lang="en-US" sz="16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769EE7F2-D6A4-E56C-D452-CCBEBE520DFC}"/>
              </a:ext>
            </a:extLst>
          </p:cNvPr>
          <p:cNvSpPr/>
          <p:nvPr/>
        </p:nvSpPr>
        <p:spPr>
          <a:xfrm>
            <a:off x="347472" y="3192417"/>
            <a:ext cx="2578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Replaces treatment with random noise — ATE should drop to ≈ 0 if estimate is genuine</a:t>
            </a:r>
            <a:endParaRPr lang="en-US" sz="14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BA03066A-B9EE-B807-0664-C9F443E76EBB}"/>
              </a:ext>
            </a:extLst>
          </p:cNvPr>
          <p:cNvSpPr/>
          <p:nvPr/>
        </p:nvSpPr>
        <p:spPr>
          <a:xfrm>
            <a:off x="347472" y="3803904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common cause</a:t>
            </a:r>
            <a:endParaRPr lang="en-US" sz="16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611CEF7E-4F61-CBC0-B023-905FD78EEDEE}"/>
              </a:ext>
            </a:extLst>
          </p:cNvPr>
          <p:cNvSpPr/>
          <p:nvPr/>
        </p:nvSpPr>
        <p:spPr>
          <a:xfrm>
            <a:off x="365760" y="4189113"/>
            <a:ext cx="2578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Adds a random noise confounder — ATE should not shift significantly if assumptions hold</a:t>
            </a:r>
            <a:endParaRPr lang="en-US" sz="140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93B3A55F-7083-E43D-3F62-4E53AE7A4F9E}"/>
              </a:ext>
            </a:extLst>
          </p:cNvPr>
          <p:cNvSpPr/>
          <p:nvPr/>
        </p:nvSpPr>
        <p:spPr>
          <a:xfrm>
            <a:off x="3273552" y="1078992"/>
            <a:ext cx="5614416" cy="1755648"/>
          </a:xfrm>
          <a:prstGeom prst="rect">
            <a:avLst/>
          </a:prstGeom>
          <a:solidFill>
            <a:srgbClr val="FFFFFF"/>
          </a:solidFill>
          <a:ln w="6350">
            <a:solidFill>
              <a:srgbClr val="DADEEA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C46F89F6-CB7A-9458-6DF4-6DD49AC7ECD6}"/>
              </a:ext>
            </a:extLst>
          </p:cNvPr>
          <p:cNvSpPr/>
          <p:nvPr/>
        </p:nvSpPr>
        <p:spPr>
          <a:xfrm>
            <a:off x="3273552" y="1078992"/>
            <a:ext cx="5614416" cy="329184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175BA5A8-A755-1600-D882-979C4B04B463}"/>
              </a:ext>
            </a:extLst>
          </p:cNvPr>
          <p:cNvSpPr/>
          <p:nvPr/>
        </p:nvSpPr>
        <p:spPr>
          <a:xfrm>
            <a:off x="3383280" y="1078992"/>
            <a:ext cx="54315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12 / 16 Segments Failed — and Why That Is Valid</a:t>
            </a:r>
            <a:endParaRPr lang="en-US" sz="16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505C1B61-FDF7-93A9-73C4-83CC33C56DAC}"/>
              </a:ext>
            </a:extLst>
          </p:cNvPr>
          <p:cNvSpPr/>
          <p:nvPr/>
        </p:nvSpPr>
        <p:spPr>
          <a:xfrm>
            <a:off x="3401568" y="1481328"/>
            <a:ext cx="5376672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synthetic nature of the dataset means Incident Reports correlates with nearly every confounder simultaneously, making it hard to isolate the causal signal. This reflects data limitations, not a methodological failure. All 16 segments are included with an appropriate fallback.</a:t>
            </a:r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0DE0F473-3E77-F3DE-A0F0-1A46610190E9}"/>
              </a:ext>
            </a:extLst>
          </p:cNvPr>
          <p:cNvSpPr/>
          <p:nvPr/>
        </p:nvSpPr>
        <p:spPr>
          <a:xfrm>
            <a:off x="3273552" y="2962656"/>
            <a:ext cx="5614416" cy="1837944"/>
          </a:xfrm>
          <a:prstGeom prst="rect">
            <a:avLst/>
          </a:prstGeom>
          <a:solidFill>
            <a:srgbClr val="FFFFFF"/>
          </a:solidFill>
          <a:ln w="6350">
            <a:solidFill>
              <a:srgbClr val="DADEEA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FF53D5E0-1983-9F8B-EE0B-743AE041B906}"/>
              </a:ext>
            </a:extLst>
          </p:cNvPr>
          <p:cNvSpPr/>
          <p:nvPr/>
        </p:nvSpPr>
        <p:spPr>
          <a:xfrm>
            <a:off x="3273552" y="2962656"/>
            <a:ext cx="5614416" cy="329184"/>
          </a:xfrm>
          <a:prstGeom prst="rect">
            <a:avLst/>
          </a:prstGeom>
          <a:solidFill>
            <a:srgbClr val="D4722A"/>
          </a:solidFill>
          <a:ln w="12700">
            <a:solidFill>
              <a:srgbClr val="D4722A"/>
            </a:solidFill>
            <a:prstDash val="solid"/>
          </a:ln>
        </p:spPr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89341935-340C-D457-85CE-2297ABF41092}"/>
              </a:ext>
            </a:extLst>
          </p:cNvPr>
          <p:cNvSpPr/>
          <p:nvPr/>
        </p:nvSpPr>
        <p:spPr>
          <a:xfrm>
            <a:off x="3383280" y="2962656"/>
            <a:ext cx="54315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Strategy for Stage 4 Routing</a:t>
            </a:r>
            <a:endParaRPr lang="en-US" sz="16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441C6D66-2077-9137-3019-4ED94F45008C}"/>
              </a:ext>
            </a:extLst>
          </p:cNvPr>
          <p:cNvSpPr/>
          <p:nvPr/>
        </p:nvSpPr>
        <p:spPr>
          <a:xfrm>
            <a:off x="3401568" y="3346704"/>
            <a:ext cx="5376672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segments with robust ATE</a:t>
            </a: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use own segment-level ATE as Re component
</a:t>
            </a: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segments (failed refutation)</a:t>
            </a: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use global ATE fallback of +0.0389
</a:t>
            </a: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200" i="1" dirty="0">
                <a:solidFill>
                  <a:srgbClr val="8C9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highest-traffic corridors (Hosur Road, Tumkur Road) both passed refutation — these are the segments that matter most for emergency routing.</a:t>
            </a:r>
            <a:endParaRPr lang="en-US" sz="1400" dirty="0"/>
          </a:p>
        </p:txBody>
      </p:sp>
      <p:sp>
        <p:nvSpPr>
          <p:cNvPr id="24" name="Text 3">
            <a:extLst>
              <a:ext uri="{FF2B5EF4-FFF2-40B4-BE49-F238E27FC236}">
                <a16:creationId xmlns:a16="http://schemas.microsoft.com/office/drawing/2014/main" id="{E9503DAE-5180-BC08-35C3-C8159AAE2D2F}"/>
              </a:ext>
            </a:extLst>
          </p:cNvPr>
          <p:cNvSpPr/>
          <p:nvPr/>
        </p:nvSpPr>
        <p:spPr>
          <a:xfrm>
            <a:off x="7650480" y="152400"/>
            <a:ext cx="1274064" cy="5950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8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17/23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621304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65836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Stage 4 — Multi-Objective Emergency Routing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56032" y="749808"/>
            <a:ext cx="8732520" cy="960120"/>
          </a:xfrm>
          <a:prstGeom prst="rect">
            <a:avLst/>
          </a:prstGeom>
          <a:solidFill>
            <a:srgbClr val="EEF2F8"/>
          </a:solidFill>
          <a:ln w="254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47472" y="749808"/>
            <a:ext cx="8549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B3A6B"/>
                </a:solidFill>
              </a:rPr>
              <a:t>Edge Weight:   Wₑ = α · Tₑ  +  β · Uₑ  +  γ · Rₑ  +  δ · Pₑ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47472" y="1280160"/>
            <a:ext cx="8549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88888"/>
                </a:solidFill>
              </a:rPr>
              <a:t>subject to: α + β + γ + δ = 1   (weights learned from historical data)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56032" y="1828800"/>
            <a:ext cx="873252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256032" y="1828800"/>
            <a:ext cx="777240" cy="694944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256032" y="1828800"/>
            <a:ext cx="7772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Tₑ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115568" y="1920240"/>
            <a:ext cx="2011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3A6B"/>
                </a:solidFill>
              </a:rPr>
              <a:t>Expected Travel Time —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063240" y="1920240"/>
            <a:ext cx="5806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</a:rPr>
              <a:t>Median (P50) speed forecast from the TFT+GNN model for this road segment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56032" y="2606040"/>
            <a:ext cx="8732520" cy="694944"/>
          </a:xfrm>
          <a:prstGeom prst="rect">
            <a:avLst/>
          </a:prstGeom>
          <a:solidFill>
            <a:srgbClr val="EEF2F8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256032" y="2606040"/>
            <a:ext cx="777240" cy="694944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256032" y="2606040"/>
            <a:ext cx="7772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Uₑ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115568" y="2697480"/>
            <a:ext cx="2011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3A6B"/>
                </a:solidFill>
              </a:rPr>
              <a:t>Forecast Uncertainty —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3063240" y="2697480"/>
            <a:ext cx="5806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</a:rPr>
              <a:t>Width of quantile band (P90 − P10) — penalises high-variance, unpredictable edges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256032" y="3383280"/>
            <a:ext cx="873252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256032" y="3383280"/>
            <a:ext cx="777240" cy="694944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chemeClr val="accent1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256032" y="3383280"/>
            <a:ext cx="7772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Rₑ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115568" y="3474720"/>
            <a:ext cx="2011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3A6B"/>
                </a:solidFill>
              </a:rPr>
              <a:t>Incident Risk —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3063240" y="3474720"/>
            <a:ext cx="5806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</a:rPr>
              <a:t>Incident probability × causal ATE delay from DoWhy — quantified, not correlated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256032" y="4160520"/>
            <a:ext cx="8732520" cy="694944"/>
          </a:xfrm>
          <a:prstGeom prst="rect">
            <a:avLst/>
          </a:prstGeom>
          <a:solidFill>
            <a:srgbClr val="EEF2F8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256032" y="4160520"/>
            <a:ext cx="777240" cy="694944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chemeClr val="accent1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256032" y="4160520"/>
            <a:ext cx="7772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Pₑ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1115568" y="4251960"/>
            <a:ext cx="2011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3A6B"/>
                </a:solidFill>
              </a:rPr>
              <a:t>PM2.5 Exposure —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3063240" y="4251960"/>
            <a:ext cx="5806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</a:rPr>
              <a:t>Patient air quality exposure while traversing the edge — from air quality feeds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256032" y="4956048"/>
            <a:ext cx="8732520" cy="164592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3">
            <a:extLst>
              <a:ext uri="{FF2B5EF4-FFF2-40B4-BE49-F238E27FC236}">
                <a16:creationId xmlns:a16="http://schemas.microsoft.com/office/drawing/2014/main" id="{E494CABE-565F-E0F4-5827-3626F19CC612}"/>
              </a:ext>
            </a:extLst>
          </p:cNvPr>
          <p:cNvSpPr/>
          <p:nvPr/>
        </p:nvSpPr>
        <p:spPr>
          <a:xfrm>
            <a:off x="7650480" y="152400"/>
            <a:ext cx="1274064" cy="5950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8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18 /23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1">
            <a:extLst>
              <a:ext uri="{FF2B5EF4-FFF2-40B4-BE49-F238E27FC236}">
                <a16:creationId xmlns:a16="http://schemas.microsoft.com/office/drawing/2014/main" id="{1A1D9CB7-633B-0DDA-4BC3-E9ECC1E58C6E}"/>
              </a:ext>
            </a:extLst>
          </p:cNvPr>
          <p:cNvSpPr/>
          <p:nvPr/>
        </p:nvSpPr>
        <p:spPr>
          <a:xfrm>
            <a:off x="5596128" y="2377440"/>
            <a:ext cx="329184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ADEEA"/>
            </a:solidFill>
            <a:prstDash val="solid"/>
          </a:ln>
        </p:spPr>
      </p:sp>
      <p:sp>
        <p:nvSpPr>
          <p:cNvPr id="3" name="Shape 0">
            <a:extLst>
              <a:ext uri="{FF2B5EF4-FFF2-40B4-BE49-F238E27FC236}">
                <a16:creationId xmlns:a16="http://schemas.microsoft.com/office/drawing/2014/main" id="{DF200722-0EFF-3069-ABFE-26DEE1C944D4}"/>
              </a:ext>
            </a:extLst>
          </p:cNvPr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052E3791-158B-FFE9-687E-30E3C0EC3616}"/>
              </a:ext>
            </a:extLst>
          </p:cNvPr>
          <p:cNvSpPr/>
          <p:nvPr/>
        </p:nvSpPr>
        <p:spPr>
          <a:xfrm>
            <a:off x="0" y="0"/>
            <a:ext cx="201168" cy="960120"/>
          </a:xfrm>
          <a:prstGeom prst="rect">
            <a:avLst/>
          </a:prstGeom>
          <a:solidFill>
            <a:srgbClr val="D4722A"/>
          </a:solidFill>
          <a:ln w="12700">
            <a:solidFill>
              <a:srgbClr val="D4722A"/>
            </a:solidFill>
            <a:prstDash val="solid"/>
          </a:ln>
        </p:spPr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7D71C4E8-87D4-5BF0-E4EA-E6999327DA3E}"/>
              </a:ext>
            </a:extLst>
          </p:cNvPr>
          <p:cNvSpPr/>
          <p:nvPr/>
        </p:nvSpPr>
        <p:spPr>
          <a:xfrm>
            <a:off x="347472" y="0"/>
            <a:ext cx="7132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4: Pareto-Optimal Routes  ★</a:t>
            </a:r>
            <a:endParaRPr lang="en-US" sz="24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2A2206E6-0A0E-7FE2-7DD9-400833E9C60C}"/>
              </a:ext>
            </a:extLst>
          </p:cNvPr>
          <p:cNvSpPr/>
          <p:nvPr/>
        </p:nvSpPr>
        <p:spPr>
          <a:xfrm>
            <a:off x="7498080" y="0"/>
            <a:ext cx="1554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18B97320-82D6-F5E1-35BA-5DAFAD61B533}"/>
              </a:ext>
            </a:extLst>
          </p:cNvPr>
          <p:cNvSpPr/>
          <p:nvPr/>
        </p:nvSpPr>
        <p:spPr>
          <a:xfrm>
            <a:off x="5596128" y="1078992"/>
            <a:ext cx="3291840" cy="2267712"/>
          </a:xfrm>
          <a:prstGeom prst="rect">
            <a:avLst/>
          </a:prstGeom>
          <a:solidFill>
            <a:srgbClr val="FFFFFF"/>
          </a:solidFill>
          <a:ln w="6350">
            <a:solidFill>
              <a:srgbClr val="DADEEA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79CEC325-BC5D-5ECA-144C-1E5E90EB3E91}"/>
              </a:ext>
            </a:extLst>
          </p:cNvPr>
          <p:cNvSpPr/>
          <p:nvPr/>
        </p:nvSpPr>
        <p:spPr>
          <a:xfrm>
            <a:off x="5596128" y="1078992"/>
            <a:ext cx="3291840" cy="329184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9">
            <a:extLst>
              <a:ext uri="{FF2B5EF4-FFF2-40B4-BE49-F238E27FC236}">
                <a16:creationId xmlns:a16="http://schemas.microsoft.com/office/drawing/2014/main" id="{875E21B6-6F36-4658-BD92-13BCC9AB0D9B}"/>
              </a:ext>
            </a:extLst>
          </p:cNvPr>
          <p:cNvSpPr/>
          <p:nvPr/>
        </p:nvSpPr>
        <p:spPr>
          <a:xfrm>
            <a:off x="5705856" y="1078992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Comparison</a:t>
            </a:r>
            <a:endParaRPr lang="en-US" sz="1200" dirty="0"/>
          </a:p>
        </p:txBody>
      </p:sp>
      <p:sp>
        <p:nvSpPr>
          <p:cNvPr id="10" name="Text 10">
            <a:extLst>
              <a:ext uri="{FF2B5EF4-FFF2-40B4-BE49-F238E27FC236}">
                <a16:creationId xmlns:a16="http://schemas.microsoft.com/office/drawing/2014/main" id="{97C27F64-BA32-4AA0-34A2-D6D43B209AFC}"/>
              </a:ext>
            </a:extLst>
          </p:cNvPr>
          <p:cNvSpPr/>
          <p:nvPr/>
        </p:nvSpPr>
        <p:spPr>
          <a:xfrm>
            <a:off x="5742432" y="1444752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C9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Example: Manipal Hospital → Victoria Hospital</a:t>
            </a:r>
            <a:endParaRPr lang="en-US" sz="1000" dirty="0"/>
          </a:p>
        </p:txBody>
      </p:sp>
      <p:sp>
        <p:nvSpPr>
          <p:cNvPr id="11" name="Text 11">
            <a:extLst>
              <a:ext uri="{FF2B5EF4-FFF2-40B4-BE49-F238E27FC236}">
                <a16:creationId xmlns:a16="http://schemas.microsoft.com/office/drawing/2014/main" id="{9AFACD44-03CF-7B51-307F-FBFF541008AB}"/>
              </a:ext>
            </a:extLst>
          </p:cNvPr>
          <p:cNvSpPr/>
          <p:nvPr/>
        </p:nvSpPr>
        <p:spPr>
          <a:xfrm>
            <a:off x="5742432" y="1682496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Route</a:t>
            </a:r>
            <a:endParaRPr lang="en-US" sz="1200" dirty="0"/>
          </a:p>
        </p:txBody>
      </p:sp>
      <p:sp>
        <p:nvSpPr>
          <p:cNvPr id="12" name="Text 12">
            <a:extLst>
              <a:ext uri="{FF2B5EF4-FFF2-40B4-BE49-F238E27FC236}">
                <a16:creationId xmlns:a16="http://schemas.microsoft.com/office/drawing/2014/main" id="{E841CE16-AED1-9117-6F7C-2D553299612B}"/>
              </a:ext>
            </a:extLst>
          </p:cNvPr>
          <p:cNvSpPr/>
          <p:nvPr/>
        </p:nvSpPr>
        <p:spPr>
          <a:xfrm>
            <a:off x="6519672" y="1682496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ETA</a:t>
            </a:r>
            <a:endParaRPr lang="en-US" sz="1200" dirty="0"/>
          </a:p>
        </p:txBody>
      </p:sp>
      <p:sp>
        <p:nvSpPr>
          <p:cNvPr id="13" name="Text 13">
            <a:extLst>
              <a:ext uri="{FF2B5EF4-FFF2-40B4-BE49-F238E27FC236}">
                <a16:creationId xmlns:a16="http://schemas.microsoft.com/office/drawing/2014/main" id="{22D9DEE1-DE44-60E1-4F14-0B8A1B46277F}"/>
              </a:ext>
            </a:extLst>
          </p:cNvPr>
          <p:cNvSpPr/>
          <p:nvPr/>
        </p:nvSpPr>
        <p:spPr>
          <a:xfrm>
            <a:off x="7296912" y="1682496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Dist</a:t>
            </a:r>
            <a:endParaRPr lang="en-US" sz="1200" dirty="0"/>
          </a:p>
        </p:txBody>
      </p:sp>
      <p:sp>
        <p:nvSpPr>
          <p:cNvPr id="14" name="Text 14">
            <a:extLst>
              <a:ext uri="{FF2B5EF4-FFF2-40B4-BE49-F238E27FC236}">
                <a16:creationId xmlns:a16="http://schemas.microsoft.com/office/drawing/2014/main" id="{08E00AB4-20AF-0A23-C8C6-CDC9DDB53AC0}"/>
              </a:ext>
            </a:extLst>
          </p:cNvPr>
          <p:cNvSpPr/>
          <p:nvPr/>
        </p:nvSpPr>
        <p:spPr>
          <a:xfrm>
            <a:off x="8074152" y="1682496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200" dirty="0"/>
          </a:p>
        </p:txBody>
      </p:sp>
      <p:sp>
        <p:nvSpPr>
          <p:cNvPr id="15" name="Shape 15">
            <a:extLst>
              <a:ext uri="{FF2B5EF4-FFF2-40B4-BE49-F238E27FC236}">
                <a16:creationId xmlns:a16="http://schemas.microsoft.com/office/drawing/2014/main" id="{741E3F5F-6B8A-C00D-15C1-E04B1DB5A58C}"/>
              </a:ext>
            </a:extLst>
          </p:cNvPr>
          <p:cNvSpPr/>
          <p:nvPr/>
        </p:nvSpPr>
        <p:spPr>
          <a:xfrm>
            <a:off x="5596128" y="1938528"/>
            <a:ext cx="3291840" cy="402336"/>
          </a:xfrm>
          <a:prstGeom prst="rect">
            <a:avLst/>
          </a:prstGeom>
          <a:solidFill>
            <a:srgbClr val="EBF5FB"/>
          </a:solidFill>
          <a:ln w="6350">
            <a:solidFill>
              <a:srgbClr val="DADEEA"/>
            </a:solidFill>
            <a:prstDash val="solid"/>
          </a:ln>
        </p:spPr>
      </p:sp>
      <p:sp>
        <p:nvSpPr>
          <p:cNvPr id="16" name="Shape 16">
            <a:extLst>
              <a:ext uri="{FF2B5EF4-FFF2-40B4-BE49-F238E27FC236}">
                <a16:creationId xmlns:a16="http://schemas.microsoft.com/office/drawing/2014/main" id="{8EFBABF7-B55B-1151-11EF-C98166A17256}"/>
              </a:ext>
            </a:extLst>
          </p:cNvPr>
          <p:cNvSpPr/>
          <p:nvPr/>
        </p:nvSpPr>
        <p:spPr>
          <a:xfrm>
            <a:off x="5596128" y="2377440"/>
            <a:ext cx="91440" cy="40233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solidFill>
              <a:schemeClr val="accent1">
                <a:lumMod val="60000"/>
                <a:lumOff val="40000"/>
              </a:schemeClr>
            </a:solidFill>
            <a:prstDash val="solid"/>
          </a:ln>
        </p:spPr>
      </p:sp>
      <p:sp>
        <p:nvSpPr>
          <p:cNvPr id="17" name="Text 17">
            <a:extLst>
              <a:ext uri="{FF2B5EF4-FFF2-40B4-BE49-F238E27FC236}">
                <a16:creationId xmlns:a16="http://schemas.microsoft.com/office/drawing/2014/main" id="{5CBDA143-B253-D1DA-DFE3-69D901B51E19}"/>
              </a:ext>
            </a:extLst>
          </p:cNvPr>
          <p:cNvSpPr/>
          <p:nvPr/>
        </p:nvSpPr>
        <p:spPr>
          <a:xfrm>
            <a:off x="5742432" y="1975104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★</a:t>
            </a:r>
            <a:endParaRPr lang="en-US" sz="1400" dirty="0"/>
          </a:p>
        </p:txBody>
      </p:sp>
      <p:sp>
        <p:nvSpPr>
          <p:cNvPr id="18" name="Text 18">
            <a:extLst>
              <a:ext uri="{FF2B5EF4-FFF2-40B4-BE49-F238E27FC236}">
                <a16:creationId xmlns:a16="http://schemas.microsoft.com/office/drawing/2014/main" id="{8E4A297B-D5DE-4615-3E0F-C51F93D37C2D}"/>
              </a:ext>
            </a:extLst>
          </p:cNvPr>
          <p:cNvSpPr/>
          <p:nvPr/>
        </p:nvSpPr>
        <p:spPr>
          <a:xfrm>
            <a:off x="6510528" y="1975104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12.1 min</a:t>
            </a:r>
            <a:endParaRPr lang="en-US" sz="1200" dirty="0"/>
          </a:p>
        </p:txBody>
      </p:sp>
      <p:sp>
        <p:nvSpPr>
          <p:cNvPr id="19" name="Text 19">
            <a:extLst>
              <a:ext uri="{FF2B5EF4-FFF2-40B4-BE49-F238E27FC236}">
                <a16:creationId xmlns:a16="http://schemas.microsoft.com/office/drawing/2014/main" id="{1A8F45B6-06A2-C80C-454A-54080D95BE12}"/>
              </a:ext>
            </a:extLst>
          </p:cNvPr>
          <p:cNvSpPr/>
          <p:nvPr/>
        </p:nvSpPr>
        <p:spPr>
          <a:xfrm>
            <a:off x="7242048" y="1975104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8.97 km</a:t>
            </a:r>
            <a:endParaRPr lang="en-US" sz="1200" dirty="0"/>
          </a:p>
        </p:txBody>
      </p:sp>
      <p:sp>
        <p:nvSpPr>
          <p:cNvPr id="20" name="Text 20">
            <a:extLst>
              <a:ext uri="{FF2B5EF4-FFF2-40B4-BE49-F238E27FC236}">
                <a16:creationId xmlns:a16="http://schemas.microsoft.com/office/drawing/2014/main" id="{F75C2413-E5AD-53F3-1DA6-3EE3A20CFCE0}"/>
              </a:ext>
            </a:extLst>
          </p:cNvPr>
          <p:cNvSpPr/>
          <p:nvPr/>
        </p:nvSpPr>
        <p:spPr>
          <a:xfrm>
            <a:off x="8019288" y="1975104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0.057</a:t>
            </a:r>
            <a:endParaRPr lang="en-US" sz="1200" dirty="0"/>
          </a:p>
        </p:txBody>
      </p:sp>
      <p:sp>
        <p:nvSpPr>
          <p:cNvPr id="21" name="Shape 22">
            <a:extLst>
              <a:ext uri="{FF2B5EF4-FFF2-40B4-BE49-F238E27FC236}">
                <a16:creationId xmlns:a16="http://schemas.microsoft.com/office/drawing/2014/main" id="{E7EBCF40-1E5F-E513-926D-17A8DE360273}"/>
              </a:ext>
            </a:extLst>
          </p:cNvPr>
          <p:cNvSpPr/>
          <p:nvPr/>
        </p:nvSpPr>
        <p:spPr>
          <a:xfrm>
            <a:off x="5596128" y="1947236"/>
            <a:ext cx="91440" cy="402336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2" name="Text 23">
            <a:extLst>
              <a:ext uri="{FF2B5EF4-FFF2-40B4-BE49-F238E27FC236}">
                <a16:creationId xmlns:a16="http://schemas.microsoft.com/office/drawing/2014/main" id="{B1541CDF-8157-5F68-6D50-CDFD726DB446}"/>
              </a:ext>
            </a:extLst>
          </p:cNvPr>
          <p:cNvSpPr/>
          <p:nvPr/>
        </p:nvSpPr>
        <p:spPr>
          <a:xfrm>
            <a:off x="5742432" y="241401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</a:t>
            </a:r>
            <a:endParaRPr lang="en-US" sz="1400" dirty="0"/>
          </a:p>
        </p:txBody>
      </p:sp>
      <p:sp>
        <p:nvSpPr>
          <p:cNvPr id="23" name="Text 24">
            <a:extLst>
              <a:ext uri="{FF2B5EF4-FFF2-40B4-BE49-F238E27FC236}">
                <a16:creationId xmlns:a16="http://schemas.microsoft.com/office/drawing/2014/main" id="{00112FEA-5C68-85B6-2980-36E466EEE821}"/>
              </a:ext>
            </a:extLst>
          </p:cNvPr>
          <p:cNvSpPr/>
          <p:nvPr/>
        </p:nvSpPr>
        <p:spPr>
          <a:xfrm>
            <a:off x="6510528" y="2414016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18.9 min</a:t>
            </a:r>
            <a:endParaRPr lang="en-US" sz="1200" dirty="0"/>
          </a:p>
        </p:txBody>
      </p:sp>
      <p:sp>
        <p:nvSpPr>
          <p:cNvPr id="24" name="Text 25">
            <a:extLst>
              <a:ext uri="{FF2B5EF4-FFF2-40B4-BE49-F238E27FC236}">
                <a16:creationId xmlns:a16="http://schemas.microsoft.com/office/drawing/2014/main" id="{F479E2B1-7CDD-DD2F-8A2D-10F93BB9E3F2}"/>
              </a:ext>
            </a:extLst>
          </p:cNvPr>
          <p:cNvSpPr/>
          <p:nvPr/>
        </p:nvSpPr>
        <p:spPr>
          <a:xfrm>
            <a:off x="7242048" y="2414016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13.98 km</a:t>
            </a:r>
            <a:endParaRPr lang="en-US" sz="1200" dirty="0"/>
          </a:p>
        </p:txBody>
      </p:sp>
      <p:sp>
        <p:nvSpPr>
          <p:cNvPr id="25" name="Text 26">
            <a:extLst>
              <a:ext uri="{FF2B5EF4-FFF2-40B4-BE49-F238E27FC236}">
                <a16:creationId xmlns:a16="http://schemas.microsoft.com/office/drawing/2014/main" id="{67833D3E-C67A-0464-1A9F-46FBCE7E25E0}"/>
              </a:ext>
            </a:extLst>
          </p:cNvPr>
          <p:cNvSpPr/>
          <p:nvPr/>
        </p:nvSpPr>
        <p:spPr>
          <a:xfrm>
            <a:off x="8019288" y="2414016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0.286</a:t>
            </a:r>
            <a:endParaRPr lang="en-US" sz="1400" dirty="0"/>
          </a:p>
        </p:txBody>
      </p:sp>
      <p:sp>
        <p:nvSpPr>
          <p:cNvPr id="26" name="Shape 27">
            <a:extLst>
              <a:ext uri="{FF2B5EF4-FFF2-40B4-BE49-F238E27FC236}">
                <a16:creationId xmlns:a16="http://schemas.microsoft.com/office/drawing/2014/main" id="{7C674C53-B550-081F-EEFE-69EC1C26AE9A}"/>
              </a:ext>
            </a:extLst>
          </p:cNvPr>
          <p:cNvSpPr/>
          <p:nvPr/>
        </p:nvSpPr>
        <p:spPr>
          <a:xfrm>
            <a:off x="5596128" y="2816352"/>
            <a:ext cx="329184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ADEEA"/>
            </a:solidFill>
            <a:prstDash val="solid"/>
          </a:ln>
        </p:spPr>
      </p:sp>
      <p:sp>
        <p:nvSpPr>
          <p:cNvPr id="27" name="Shape 28">
            <a:extLst>
              <a:ext uri="{FF2B5EF4-FFF2-40B4-BE49-F238E27FC236}">
                <a16:creationId xmlns:a16="http://schemas.microsoft.com/office/drawing/2014/main" id="{57450B94-0426-27BA-C3E6-1616DDBC8328}"/>
              </a:ext>
            </a:extLst>
          </p:cNvPr>
          <p:cNvSpPr/>
          <p:nvPr/>
        </p:nvSpPr>
        <p:spPr>
          <a:xfrm>
            <a:off x="5596128" y="2816352"/>
            <a:ext cx="91440" cy="402336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8" name="Text 29">
            <a:extLst>
              <a:ext uri="{FF2B5EF4-FFF2-40B4-BE49-F238E27FC236}">
                <a16:creationId xmlns:a16="http://schemas.microsoft.com/office/drawing/2014/main" id="{EFC8FF13-0102-4700-B061-47D3A187EE39}"/>
              </a:ext>
            </a:extLst>
          </p:cNvPr>
          <p:cNvSpPr/>
          <p:nvPr/>
        </p:nvSpPr>
        <p:spPr>
          <a:xfrm>
            <a:off x="5742432" y="285292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safest</a:t>
            </a:r>
            <a:endParaRPr lang="en-US" sz="1400" dirty="0"/>
          </a:p>
        </p:txBody>
      </p:sp>
      <p:sp>
        <p:nvSpPr>
          <p:cNvPr id="29" name="Text 30">
            <a:extLst>
              <a:ext uri="{FF2B5EF4-FFF2-40B4-BE49-F238E27FC236}">
                <a16:creationId xmlns:a16="http://schemas.microsoft.com/office/drawing/2014/main" id="{7CAE72AC-B895-5319-3C04-3A38EC887C86}"/>
              </a:ext>
            </a:extLst>
          </p:cNvPr>
          <p:cNvSpPr/>
          <p:nvPr/>
        </p:nvSpPr>
        <p:spPr>
          <a:xfrm>
            <a:off x="6510528" y="2852928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19.1 min</a:t>
            </a:r>
            <a:endParaRPr lang="en-US" sz="1200" dirty="0"/>
          </a:p>
        </p:txBody>
      </p:sp>
      <p:sp>
        <p:nvSpPr>
          <p:cNvPr id="30" name="Text 31">
            <a:extLst>
              <a:ext uri="{FF2B5EF4-FFF2-40B4-BE49-F238E27FC236}">
                <a16:creationId xmlns:a16="http://schemas.microsoft.com/office/drawing/2014/main" id="{FACB0B62-6634-5D63-E96D-51307FEF6AD9}"/>
              </a:ext>
            </a:extLst>
          </p:cNvPr>
          <p:cNvSpPr/>
          <p:nvPr/>
        </p:nvSpPr>
        <p:spPr>
          <a:xfrm>
            <a:off x="7242048" y="2852928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13.18 km</a:t>
            </a:r>
            <a:endParaRPr lang="en-US" sz="1200" dirty="0"/>
          </a:p>
        </p:txBody>
      </p:sp>
      <p:sp>
        <p:nvSpPr>
          <p:cNvPr id="31" name="Text 32">
            <a:extLst>
              <a:ext uri="{FF2B5EF4-FFF2-40B4-BE49-F238E27FC236}">
                <a16:creationId xmlns:a16="http://schemas.microsoft.com/office/drawing/2014/main" id="{3B4C32CB-CF1A-629A-845E-209F2C8CF1D7}"/>
              </a:ext>
            </a:extLst>
          </p:cNvPr>
          <p:cNvSpPr/>
          <p:nvPr/>
        </p:nvSpPr>
        <p:spPr>
          <a:xfrm>
            <a:off x="8019288" y="2852928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0.000</a:t>
            </a:r>
            <a:endParaRPr lang="en-US" sz="1200" dirty="0"/>
          </a:p>
        </p:txBody>
      </p:sp>
      <p:sp>
        <p:nvSpPr>
          <p:cNvPr id="32" name="Shape 33">
            <a:extLst>
              <a:ext uri="{FF2B5EF4-FFF2-40B4-BE49-F238E27FC236}">
                <a16:creationId xmlns:a16="http://schemas.microsoft.com/office/drawing/2014/main" id="{C6A20FEC-A757-0B95-8471-9AA988E2ED89}"/>
              </a:ext>
            </a:extLst>
          </p:cNvPr>
          <p:cNvSpPr/>
          <p:nvPr/>
        </p:nvSpPr>
        <p:spPr>
          <a:xfrm>
            <a:off x="5596128" y="3474720"/>
            <a:ext cx="329184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DADEEA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Shape 34">
            <a:extLst>
              <a:ext uri="{FF2B5EF4-FFF2-40B4-BE49-F238E27FC236}">
                <a16:creationId xmlns:a16="http://schemas.microsoft.com/office/drawing/2014/main" id="{B17F30AD-D871-0C8E-F1CF-61B0A70851E6}"/>
              </a:ext>
            </a:extLst>
          </p:cNvPr>
          <p:cNvSpPr/>
          <p:nvPr/>
        </p:nvSpPr>
        <p:spPr>
          <a:xfrm>
            <a:off x="5596128" y="3474720"/>
            <a:ext cx="3291840" cy="329184"/>
          </a:xfrm>
          <a:prstGeom prst="rect">
            <a:avLst/>
          </a:prstGeom>
          <a:solidFill>
            <a:srgbClr val="D4722A"/>
          </a:solidFill>
          <a:ln w="12700">
            <a:solidFill>
              <a:srgbClr val="D4722A"/>
            </a:solidFill>
            <a:prstDash val="solid"/>
          </a:ln>
        </p:spPr>
      </p:sp>
      <p:sp>
        <p:nvSpPr>
          <p:cNvPr id="34" name="Text 35">
            <a:extLst>
              <a:ext uri="{FF2B5EF4-FFF2-40B4-BE49-F238E27FC236}">
                <a16:creationId xmlns:a16="http://schemas.microsoft.com/office/drawing/2014/main" id="{C8B80F20-2340-E3DC-1BDB-01F676F25CC6}"/>
              </a:ext>
            </a:extLst>
          </p:cNvPr>
          <p:cNvSpPr/>
          <p:nvPr/>
        </p:nvSpPr>
        <p:spPr>
          <a:xfrm>
            <a:off x="5705856" y="3474720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200" dirty="0"/>
          </a:p>
        </p:txBody>
      </p:sp>
      <p:sp>
        <p:nvSpPr>
          <p:cNvPr id="35" name="Text 36">
            <a:extLst>
              <a:ext uri="{FF2B5EF4-FFF2-40B4-BE49-F238E27FC236}">
                <a16:creationId xmlns:a16="http://schemas.microsoft.com/office/drawing/2014/main" id="{EA7C218C-12C1-4B46-8395-7CDAFB12AC1D}"/>
              </a:ext>
            </a:extLst>
          </p:cNvPr>
          <p:cNvSpPr/>
          <p:nvPr/>
        </p:nvSpPr>
        <p:spPr>
          <a:xfrm>
            <a:off x="5742432" y="3840480"/>
            <a:ext cx="30175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recommended route is physically fastest (12.1 min) because it avoids high-incident roads (Re=0.057 vs 0.286). Multi-objective routing outperforms single-objective shortest path by producing safer AND faster routes.</a:t>
            </a:r>
            <a:endParaRPr lang="en-US" sz="1200" dirty="0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408E48C7-AA16-6C38-0B3F-5748F9E612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495" y="996406"/>
            <a:ext cx="4799417" cy="4124766"/>
          </a:xfrm>
          <a:prstGeom prst="rect">
            <a:avLst/>
          </a:prstGeom>
        </p:spPr>
      </p:pic>
      <p:sp>
        <p:nvSpPr>
          <p:cNvPr id="37" name="Text 3">
            <a:extLst>
              <a:ext uri="{FF2B5EF4-FFF2-40B4-BE49-F238E27FC236}">
                <a16:creationId xmlns:a16="http://schemas.microsoft.com/office/drawing/2014/main" id="{157AC055-9844-45B4-D854-97F935C79D48}"/>
              </a:ext>
            </a:extLst>
          </p:cNvPr>
          <p:cNvSpPr/>
          <p:nvPr/>
        </p:nvSpPr>
        <p:spPr>
          <a:xfrm>
            <a:off x="7650480" y="152400"/>
            <a:ext cx="1274064" cy="5950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8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19 /23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40144015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65836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Evaluation Strategy &amp; Metrics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56032" y="749808"/>
            <a:ext cx="274320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256032" y="749808"/>
            <a:ext cx="27432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256032" y="749808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Traffic Prediction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84048" y="1417320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6B"/>
                </a:solidFill>
              </a:rPr>
              <a:t>RMSE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84048" y="1568196"/>
            <a:ext cx="2487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</a:rPr>
              <a:t>Root Mean Squared Error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84048" y="2029968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6B"/>
                </a:solidFill>
              </a:rPr>
              <a:t>MAE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84048" y="2190206"/>
            <a:ext cx="2487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</a:rPr>
              <a:t>Mean Absolute Error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84048" y="2721719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6B"/>
                </a:solidFill>
              </a:rPr>
              <a:t>R²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31520" y="2621135"/>
            <a:ext cx="2487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</a:rPr>
              <a:t>Goodness of fit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84048" y="3115201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6B"/>
                </a:solidFill>
              </a:rPr>
              <a:t>CRPS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84048" y="3477478"/>
            <a:ext cx="2487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</a:rPr>
              <a:t>Probabilistic forecast quality — rewards accuracy AND sharpness of quantile distribution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182112" y="749808"/>
            <a:ext cx="2743200" cy="4297680"/>
          </a:xfrm>
          <a:prstGeom prst="rect">
            <a:avLst/>
          </a:prstGeom>
          <a:solidFill>
            <a:srgbClr val="EEF2F8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3182112" y="749808"/>
            <a:ext cx="2743200" cy="548640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3182112" y="749808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Causal Modeling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310128" y="1417320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07B2A"/>
                </a:solidFill>
              </a:rPr>
              <a:t>ATE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310128" y="1737360"/>
            <a:ext cx="2487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</a:rPr>
              <a:t>Average Treatment Effect — incident delay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310128" y="2350008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07B2A"/>
                </a:solidFill>
              </a:rPr>
              <a:t>95% CI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3310128" y="2670048"/>
            <a:ext cx="2487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</a:rPr>
              <a:t>Confidence intervals on ATE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310128" y="3282696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07B2A"/>
                </a:solidFill>
              </a:rPr>
              <a:t>Refute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3310128" y="3529584"/>
            <a:ext cx="2487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</a:rPr>
              <a:t>Random common cause tests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310128" y="4009644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07B2A"/>
                </a:solidFill>
              </a:rPr>
              <a:t>Control</a:t>
            </a:r>
            <a:endParaRPr lang="en-US" sz="2000" dirty="0">
              <a:solidFill>
                <a:srgbClr val="E07B2A"/>
              </a:solidFill>
            </a:endParaRPr>
          </a:p>
        </p:txBody>
      </p:sp>
      <p:sp>
        <p:nvSpPr>
          <p:cNvPr id="26" name="Text 24"/>
          <p:cNvSpPr/>
          <p:nvPr/>
        </p:nvSpPr>
        <p:spPr>
          <a:xfrm>
            <a:off x="3310128" y="4288536"/>
            <a:ext cx="2487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</a:rPr>
              <a:t>Confounders (time of day, road type) properly controlled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108192" y="749808"/>
            <a:ext cx="2852928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6108192" y="749808"/>
            <a:ext cx="2852928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6108192" y="749808"/>
            <a:ext cx="28529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Route Quality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6236208" y="1417320"/>
            <a:ext cx="2596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6B"/>
                </a:solidFill>
              </a:rPr>
              <a:t>Mean ETA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6236208" y="1737360"/>
            <a:ext cx="25968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</a:rPr>
              <a:t>Average travel time to destination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236208" y="2350008"/>
            <a:ext cx="2596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6B"/>
                </a:solidFill>
              </a:rPr>
              <a:t>P95 ETA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6236208" y="2670048"/>
            <a:ext cx="25968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</a:rPr>
              <a:t>Worst-case reliability measure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236208" y="3282696"/>
            <a:ext cx="2596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6B"/>
                </a:solidFill>
              </a:rPr>
              <a:t>Risk %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6236208" y="3602736"/>
            <a:ext cx="25968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</a:rPr>
              <a:t>High-risk edges avoided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236208" y="4215384"/>
            <a:ext cx="2596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6B"/>
                </a:solidFill>
              </a:rPr>
              <a:t>PM2.5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6236208" y="4535424"/>
            <a:ext cx="25968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</a:rPr>
              <a:t>Cumulative patient exposure index</a:t>
            </a:r>
            <a:endParaRPr lang="en-US" sz="1400" dirty="0"/>
          </a:p>
        </p:txBody>
      </p:sp>
      <p:sp>
        <p:nvSpPr>
          <p:cNvPr id="39" name="Text 3">
            <a:extLst>
              <a:ext uri="{FF2B5EF4-FFF2-40B4-BE49-F238E27FC236}">
                <a16:creationId xmlns:a16="http://schemas.microsoft.com/office/drawing/2014/main" id="{1617BD73-144A-C80E-2D30-005F94A9460F}"/>
              </a:ext>
            </a:extLst>
          </p:cNvPr>
          <p:cNvSpPr/>
          <p:nvPr/>
        </p:nvSpPr>
        <p:spPr>
          <a:xfrm>
            <a:off x="7650480" y="152400"/>
            <a:ext cx="1274064" cy="5950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8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20 /23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65836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</a:rPr>
              <a:t>Performance Summary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256032" y="749808"/>
            <a:ext cx="2103120" cy="512064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47472" y="749808"/>
            <a:ext cx="2011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Component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423160" y="749808"/>
            <a:ext cx="3337560" cy="512064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2514600" y="749808"/>
            <a:ext cx="3246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Key Benefit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833872" y="749808"/>
            <a:ext cx="3108960" cy="512064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925312" y="749808"/>
            <a:ext cx="3017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Result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56032" y="1298448"/>
            <a:ext cx="2103120" cy="841248"/>
          </a:xfrm>
          <a:prstGeom prst="rect">
            <a:avLst/>
          </a:prstGeom>
          <a:solidFill>
            <a:srgbClr val="EEF2F8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56032" y="1298448"/>
            <a:ext cx="91440" cy="841248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20624" y="1389888"/>
            <a:ext cx="184708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3A6B"/>
                </a:solidFill>
              </a:rPr>
              <a:t>Traffic Prediction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2423160" y="1298448"/>
            <a:ext cx="3337560" cy="841248"/>
          </a:xfrm>
          <a:prstGeom prst="rect">
            <a:avLst/>
          </a:prstGeom>
          <a:solidFill>
            <a:srgbClr val="EEF2F8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2514600" y="1353312"/>
            <a:ext cx="31546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</a:rPr>
              <a:t>Monsoon &amp; festival data improve accuracy on critical high-congestion days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833872" y="1298448"/>
            <a:ext cx="3108960" cy="841248"/>
          </a:xfrm>
          <a:prstGeom prst="rect">
            <a:avLst/>
          </a:prstGeom>
          <a:solidFill>
            <a:srgbClr val="EEF2F8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5925312" y="1353312"/>
            <a:ext cx="29260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00" b="1" dirty="0">
                <a:solidFill>
                  <a:srgbClr val="E07B2A"/>
                </a:solidFill>
              </a:rPr>
              <a:t>RMSE ↓ to 0.1295%  </a:t>
            </a:r>
          </a:p>
          <a:p>
            <a:r>
              <a:rPr lang="en-US" sz="1500" b="1" dirty="0">
                <a:solidFill>
                  <a:srgbClr val="E07B2A"/>
                </a:solidFill>
              </a:rPr>
              <a:t>CRPS = 0.0104</a:t>
            </a:r>
          </a:p>
          <a:p>
            <a:r>
              <a:rPr lang="en-US" sz="1500" b="1" dirty="0">
                <a:solidFill>
                  <a:srgbClr val="E07B2A"/>
                </a:solidFill>
              </a:rPr>
              <a:t>R</a:t>
            </a:r>
            <a:r>
              <a:rPr lang="en-US" sz="1600" b="1" baseline="30000" dirty="0">
                <a:solidFill>
                  <a:srgbClr val="E07B2A"/>
                </a:solidFill>
              </a:rPr>
              <a:t>2</a:t>
            </a:r>
            <a:r>
              <a:rPr lang="en-US" sz="1500" b="1" dirty="0">
                <a:solidFill>
                  <a:srgbClr val="E07B2A"/>
                </a:solidFill>
              </a:rPr>
              <a:t> = 0.9877</a:t>
            </a:r>
          </a:p>
          <a:p>
            <a:endParaRPr lang="en-US" sz="1500" b="1" dirty="0">
              <a:solidFill>
                <a:srgbClr val="E07B2A"/>
              </a:solidFill>
            </a:endParaRPr>
          </a:p>
        </p:txBody>
      </p:sp>
      <p:sp>
        <p:nvSpPr>
          <p:cNvPr id="18" name="Shape 16"/>
          <p:cNvSpPr/>
          <p:nvPr/>
        </p:nvSpPr>
        <p:spPr>
          <a:xfrm>
            <a:off x="256032" y="2231136"/>
            <a:ext cx="21031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256032" y="2231136"/>
            <a:ext cx="91440" cy="841248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20624" y="2322576"/>
            <a:ext cx="184708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3A6B"/>
                </a:solidFill>
              </a:rPr>
              <a:t>Incident Analysis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2423160" y="2231136"/>
            <a:ext cx="333756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2514600" y="2286000"/>
            <a:ext cx="31546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</a:rPr>
              <a:t>Causal inference gives realistic, quantified delay per incident type with confidence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5833872" y="2231136"/>
            <a:ext cx="310896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5925312" y="2286000"/>
            <a:ext cx="29260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00" b="1" dirty="0">
                <a:solidFill>
                  <a:srgbClr val="E07B2A"/>
                </a:solidFill>
              </a:rPr>
              <a:t>Global ATE fallback of +0.0389</a:t>
            </a:r>
          </a:p>
        </p:txBody>
      </p:sp>
      <p:sp>
        <p:nvSpPr>
          <p:cNvPr id="25" name="Shape 23"/>
          <p:cNvSpPr/>
          <p:nvPr/>
        </p:nvSpPr>
        <p:spPr>
          <a:xfrm>
            <a:off x="256032" y="3163824"/>
            <a:ext cx="2103120" cy="841248"/>
          </a:xfrm>
          <a:prstGeom prst="rect">
            <a:avLst/>
          </a:prstGeom>
          <a:solidFill>
            <a:srgbClr val="EEF2F8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256032" y="3163824"/>
            <a:ext cx="91440" cy="841248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420624" y="3255264"/>
            <a:ext cx="184708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3A6B"/>
                </a:solidFill>
              </a:rPr>
              <a:t>Emergency Routing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>
            <a:off x="2423160" y="3163824"/>
            <a:ext cx="3337560" cy="841248"/>
          </a:xfrm>
          <a:prstGeom prst="rect">
            <a:avLst/>
          </a:prstGeom>
          <a:solidFill>
            <a:srgbClr val="EEF2F8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2514600" y="3218688"/>
            <a:ext cx="31546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</a:rPr>
              <a:t>Multi-objective A* reduces ETA variance and avoids risky, polluted road segments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5833872" y="3163824"/>
            <a:ext cx="3108960" cy="841248"/>
          </a:xfrm>
          <a:prstGeom prst="rect">
            <a:avLst/>
          </a:prstGeom>
          <a:solidFill>
            <a:srgbClr val="EEF2F8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5925312" y="3218688"/>
            <a:ext cx="29260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07B2A"/>
                </a:solidFill>
              </a:rPr>
              <a:t>P95 ETA improved; risk/pollution avoidance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256032" y="4096512"/>
            <a:ext cx="21031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256032" y="4096512"/>
            <a:ext cx="91440" cy="841248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420624" y="4187952"/>
            <a:ext cx="184708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3A6B"/>
                </a:solidFill>
              </a:rPr>
              <a:t>System Utility</a:t>
            </a:r>
            <a:endParaRPr lang="en-US" sz="1700" dirty="0"/>
          </a:p>
        </p:txBody>
      </p:sp>
      <p:sp>
        <p:nvSpPr>
          <p:cNvPr id="35" name="Shape 33"/>
          <p:cNvSpPr/>
          <p:nvPr/>
        </p:nvSpPr>
        <p:spPr>
          <a:xfrm>
            <a:off x="2423160" y="4096512"/>
            <a:ext cx="333756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2514600" y="4151376"/>
            <a:ext cx="31546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</a:rPr>
              <a:t>Interactive dashboard gives operators actionable, real-time situational awareness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5833872" y="4096512"/>
            <a:ext cx="310896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5925312" y="4151376"/>
            <a:ext cx="29260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07B2A"/>
                </a:solidFill>
              </a:rPr>
              <a:t>Enhanced control room decisions</a:t>
            </a:r>
            <a:endParaRPr lang="en-US" sz="1500" dirty="0"/>
          </a:p>
        </p:txBody>
      </p:sp>
      <p:sp>
        <p:nvSpPr>
          <p:cNvPr id="39" name="Text 3">
            <a:extLst>
              <a:ext uri="{FF2B5EF4-FFF2-40B4-BE49-F238E27FC236}">
                <a16:creationId xmlns:a16="http://schemas.microsoft.com/office/drawing/2014/main" id="{DBFDD636-531A-50E4-0C36-C8B79BB47068}"/>
              </a:ext>
            </a:extLst>
          </p:cNvPr>
          <p:cNvSpPr/>
          <p:nvPr/>
        </p:nvSpPr>
        <p:spPr>
          <a:xfrm>
            <a:off x="7650480" y="152400"/>
            <a:ext cx="1274064" cy="5950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8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21 /23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65836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Conclusions &amp; Future Work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20040" y="777240"/>
            <a:ext cx="5120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B3A6B"/>
                </a:solidFill>
              </a:rPr>
              <a:t>Primary Contributions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320040" y="1353312"/>
            <a:ext cx="292608" cy="292608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20040" y="135331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13232" y="1280160"/>
            <a:ext cx="4754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</a:rPr>
              <a:t>First India-specific ITS integrating monsoon &amp; festival data as first-class predictive signals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20040" y="2176272"/>
            <a:ext cx="292608" cy="292608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20040" y="217627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13232" y="2103120"/>
            <a:ext cx="4754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</a:rPr>
              <a:t>Causal inference (DoWhy) to quantify real incident delays — moving beyond correlation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20040" y="2999232"/>
            <a:ext cx="292608" cy="292608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20040" y="299923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13232" y="2926080"/>
            <a:ext cx="4754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</a:rPr>
              <a:t>Uncertainty-aware multi-objective routing: balances ETA, incident risk, and PM2.5 health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20040" y="3822192"/>
            <a:ext cx="292608" cy="292608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320040" y="382219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13232" y="3749040"/>
            <a:ext cx="4754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</a:rPr>
              <a:t>Unified pipeline: forecasting → causal analysis → Pareto-optimal routes → live dashboard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623560" y="749808"/>
            <a:ext cx="3355848" cy="4279392"/>
          </a:xfrm>
          <a:prstGeom prst="rect">
            <a:avLst/>
          </a:prstGeom>
          <a:solidFill>
            <a:srgbClr val="EEF2F8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5623560" y="749808"/>
            <a:ext cx="3355848" cy="530352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5623560" y="749808"/>
            <a:ext cx="335584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Future Work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5742432" y="1527048"/>
            <a:ext cx="0" cy="384048"/>
          </a:xfrm>
          <a:prstGeom prst="line">
            <a:avLst/>
          </a:prstGeom>
          <a:noFill/>
          <a:ln w="381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5943600" y="1389888"/>
            <a:ext cx="29260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</a:rPr>
              <a:t>Real-time traffic signal control integration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5742432" y="2221992"/>
            <a:ext cx="0" cy="384048"/>
          </a:xfrm>
          <a:prstGeom prst="line">
            <a:avLst/>
          </a:prstGeom>
          <a:noFill/>
          <a:ln w="381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5943600" y="2084832"/>
            <a:ext cx="29260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</a:rPr>
              <a:t>Dynamic rerouting during active emergencies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5742432" y="2916936"/>
            <a:ext cx="0" cy="384048"/>
          </a:xfrm>
          <a:prstGeom prst="line">
            <a:avLst/>
          </a:prstGeom>
          <a:noFill/>
          <a:ln w="381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5943600" y="2779776"/>
            <a:ext cx="29260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</a:rPr>
              <a:t>Non-emergency urban logistics applications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5742432" y="3611880"/>
            <a:ext cx="0" cy="384048"/>
          </a:xfrm>
          <a:prstGeom prst="line">
            <a:avLst/>
          </a:prstGeom>
          <a:noFill/>
          <a:ln w="381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5943600" y="3474720"/>
            <a:ext cx="29260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</a:rPr>
              <a:t>Multi-city scalability beyond Delhi &amp; Bengaluru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5742432" y="4306824"/>
            <a:ext cx="0" cy="384048"/>
          </a:xfrm>
          <a:prstGeom prst="line">
            <a:avLst/>
          </a:prstGeom>
          <a:noFill/>
          <a:ln w="381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5943600" y="4169664"/>
            <a:ext cx="29260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</a:rPr>
              <a:t>Live sensor fusion for real-time ATE updates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164592" y="4736592"/>
            <a:ext cx="8979408" cy="40233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320040" y="4736592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AABBDD"/>
                </a:solidFill>
              </a:rPr>
              <a:t>Madhusudhan R  ·  Dhawal Ramdham  ·  NIT Karnataka, Surathkal  ·  AINA-2026</a:t>
            </a:r>
            <a:endParaRPr lang="en-US" sz="14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4013CD2-8F36-6B5E-6C1A-F65DF814E5E6}"/>
              </a:ext>
            </a:extLst>
          </p:cNvPr>
          <p:cNvSpPr txBox="1"/>
          <p:nvPr/>
        </p:nvSpPr>
        <p:spPr>
          <a:xfrm>
            <a:off x="8776281" y="4793145"/>
            <a:ext cx="5159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14</a:t>
            </a:r>
            <a:endParaRPr lang="en-IN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4" name="Text 3">
            <a:extLst>
              <a:ext uri="{FF2B5EF4-FFF2-40B4-BE49-F238E27FC236}">
                <a16:creationId xmlns:a16="http://schemas.microsoft.com/office/drawing/2014/main" id="{6DBA6813-7720-81AD-5644-8C46A4FD21AD}"/>
              </a:ext>
            </a:extLst>
          </p:cNvPr>
          <p:cNvSpPr/>
          <p:nvPr/>
        </p:nvSpPr>
        <p:spPr>
          <a:xfrm>
            <a:off x="7650480" y="152400"/>
            <a:ext cx="1274064" cy="5950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8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12 /23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11CADDE-163E-0D0D-DA1C-6061790C3EFF}"/>
              </a:ext>
            </a:extLst>
          </p:cNvPr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0CA18712-AF25-5902-2936-9A032D6AE012}"/>
              </a:ext>
            </a:extLst>
          </p:cNvPr>
          <p:cNvSpPr/>
          <p:nvPr/>
        </p:nvSpPr>
        <p:spPr>
          <a:xfrm>
            <a:off x="164592" y="0"/>
            <a:ext cx="8979408" cy="65836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8EB5849-B149-0E73-7E2D-46D617997754}"/>
              </a:ext>
            </a:extLst>
          </p:cNvPr>
          <p:cNvSpPr/>
          <p:nvPr/>
        </p:nvSpPr>
        <p:spPr>
          <a:xfrm>
            <a:off x="320040" y="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References :</a:t>
            </a:r>
            <a:endParaRPr lang="en-US" sz="2800" dirty="0"/>
          </a:p>
        </p:txBody>
      </p:sp>
      <p:sp>
        <p:nvSpPr>
          <p:cNvPr id="5" name="Google Shape;278;p29">
            <a:extLst>
              <a:ext uri="{FF2B5EF4-FFF2-40B4-BE49-F238E27FC236}">
                <a16:creationId xmlns:a16="http://schemas.microsoft.com/office/drawing/2014/main" id="{58DA19A0-C355-17B3-F404-CF6AF507175E}"/>
              </a:ext>
            </a:extLst>
          </p:cNvPr>
          <p:cNvSpPr txBox="1"/>
          <p:nvPr/>
        </p:nvSpPr>
        <p:spPr>
          <a:xfrm>
            <a:off x="413656" y="549510"/>
            <a:ext cx="8595360" cy="5082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 dirty="0">
                <a:solidFill>
                  <a:srgbClr val="1A1A1A"/>
                </a:solidFill>
              </a:rPr>
              <a:t>[1] B. Lim, S. Ö. </a:t>
            </a:r>
            <a:r>
              <a:rPr lang="en-US" sz="1500" dirty="0" err="1">
                <a:solidFill>
                  <a:srgbClr val="1A1A1A"/>
                </a:solidFill>
              </a:rPr>
              <a:t>Arık</a:t>
            </a:r>
            <a:r>
              <a:rPr lang="en-US" sz="1500" dirty="0">
                <a:solidFill>
                  <a:srgbClr val="1A1A1A"/>
                </a:solidFill>
              </a:rPr>
              <a:t>, N. </a:t>
            </a:r>
            <a:r>
              <a:rPr lang="en-US" sz="1500" dirty="0" err="1">
                <a:solidFill>
                  <a:srgbClr val="1A1A1A"/>
                </a:solidFill>
              </a:rPr>
              <a:t>Loeff</a:t>
            </a:r>
            <a:r>
              <a:rPr lang="en-US" sz="1500" dirty="0">
                <a:solidFill>
                  <a:srgbClr val="1A1A1A"/>
                </a:solidFill>
              </a:rPr>
              <a:t>, and T. Pfister, "Temporal Fusion Transformers for interpretable multi-horizon time series forecasting," International Journal of Forecasting, vol. 37, no. 4, pp. 1748–1764, 2021.</a:t>
            </a:r>
            <a:endParaRPr sz="1500" dirty="0">
              <a:solidFill>
                <a:srgbClr val="1A1A1A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 dirty="0">
                <a:solidFill>
                  <a:srgbClr val="1A1A1A"/>
                </a:solidFill>
              </a:rPr>
              <a:t>[2] B. Yu, H. Yin, and Z. Zhu, "Spatio-Temporal Graph Convolutional Networks: A Deep Learning Framework for Traffic Forecasting," in Proc. 27th Int. Joint Conf. on Artificial Intelligence (IJCAI), 2018, pp. 3634–3640.</a:t>
            </a:r>
            <a:endParaRPr sz="1500" dirty="0">
              <a:solidFill>
                <a:srgbClr val="1A1A1A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 dirty="0">
                <a:solidFill>
                  <a:srgbClr val="1A1A1A"/>
                </a:solidFill>
              </a:rPr>
              <a:t>[3] D. J. Graham, "Causal inference for transport research," Transportation Research Part A: Policy and Practice, vol. 192, 2025.</a:t>
            </a:r>
            <a:endParaRPr sz="1500" dirty="0">
              <a:solidFill>
                <a:srgbClr val="1A1A1A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 dirty="0">
                <a:solidFill>
                  <a:srgbClr val="1A1A1A"/>
                </a:solidFill>
              </a:rPr>
              <a:t>[4] V. K. Singh and V. Kumar, "Enhancing emergency vehicle access in dense settlements of Mumbai using  high-resolution satellite imagery: A deep learning approach," International Journal of Disaster Risk Reduction, vol. 98, p. 104212, 2023.</a:t>
            </a:r>
            <a:endParaRPr sz="1500" dirty="0">
              <a:solidFill>
                <a:srgbClr val="1A1A1A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 dirty="0">
                <a:solidFill>
                  <a:srgbClr val="1A1A1A"/>
                </a:solidFill>
              </a:rPr>
              <a:t>[5] W. Huang et al., "Research on flood risk prediction of substation based on Temporal Fusion Transformer," in 2024 6th International Conference on Energy, Power and Grid (ICEPG), 2024.</a:t>
            </a:r>
            <a:endParaRPr sz="1500" dirty="0">
              <a:solidFill>
                <a:srgbClr val="1A1A1A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 dirty="0">
                <a:solidFill>
                  <a:srgbClr val="1A1A1A"/>
                </a:solidFill>
              </a:rPr>
              <a:t>[6] P. Wu, Z. Zhang, X. Peng, and R. Wang, "Deep learning solutions for smart city challenges in urban development," Scientific Reports, vol. 14, no. 1, p. 5176, 2024.</a:t>
            </a:r>
            <a:endParaRPr sz="1500" dirty="0">
              <a:solidFill>
                <a:srgbClr val="1A1A1A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9780B184-17FA-31A8-A766-AA3712404FF5}"/>
              </a:ext>
            </a:extLst>
          </p:cNvPr>
          <p:cNvSpPr/>
          <p:nvPr/>
        </p:nvSpPr>
        <p:spPr>
          <a:xfrm>
            <a:off x="7650480" y="152400"/>
            <a:ext cx="1274064" cy="5950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8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23 /23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7157054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426</TotalTime>
  <Words>2859</Words>
  <Application>Microsoft Office PowerPoint</Application>
  <PresentationFormat>On-screen Show (16:9)</PresentationFormat>
  <Paragraphs>348</Paragraphs>
  <Slides>23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Arial</vt:lpstr>
      <vt:lpstr>Calibri</vt:lpstr>
      <vt:lpstr>Lato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Multi-Factor Optimal Routing using TFT</dc:title>
  <dc:subject>PptxGenJS Presentation</dc:subject>
  <dc:creator>Madhusudhan R, Dhawal Ramdham</dc:creator>
  <cp:lastModifiedBy>Dhawal Ramdham</cp:lastModifiedBy>
  <cp:revision>17</cp:revision>
  <dcterms:created xsi:type="dcterms:W3CDTF">2026-03-18T09:44:14Z</dcterms:created>
  <dcterms:modified xsi:type="dcterms:W3CDTF">2026-04-04T12:03:23Z</dcterms:modified>
</cp:coreProperties>
</file>